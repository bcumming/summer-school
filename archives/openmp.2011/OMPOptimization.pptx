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entation.xml" ContentType="application/vnd.openxmlformats-officedocument.presentationml.presentation.main+xml"/>
  <Default Extension="xlsx" ContentType="application/vnd.openxmlformats-officedocument.spreadsheetml.sheet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62" r:id="rId4"/>
    <p:sldId id="263" r:id="rId5"/>
    <p:sldId id="258" r:id="rId6"/>
    <p:sldId id="264" r:id="rId7"/>
    <p:sldId id="259" r:id="rId8"/>
    <p:sldId id="260" r:id="rId9"/>
    <p:sldId id="261" r:id="rId10"/>
    <p:sldId id="272" r:id="rId11"/>
    <p:sldId id="273" r:id="rId12"/>
    <p:sldId id="275" r:id="rId13"/>
    <p:sldId id="276" r:id="rId14"/>
    <p:sldId id="277" r:id="rId15"/>
    <p:sldId id="274" r:id="rId16"/>
    <p:sldId id="278" r:id="rId17"/>
    <p:sldId id="279" r:id="rId18"/>
    <p:sldId id="280" r:id="rId19"/>
    <p:sldId id="265" r:id="rId20"/>
    <p:sldId id="271" r:id="rId21"/>
    <p:sldId id="269" r:id="rId22"/>
    <p:sldId id="281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30" d="100"/>
          <a:sy n="130" d="100"/>
        </p:scale>
        <p:origin x="-96" y="-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4"/>
  <c:chart>
    <c:title>
      <c:tx>
        <c:rich>
          <a:bodyPr/>
          <a:lstStyle/>
          <a:p>
            <a:pPr>
              <a:defRPr/>
            </a:pPr>
            <a:r>
              <a:rPr lang="en-US"/>
              <a:t>PARALLEL region overhead</a:t>
            </a:r>
          </a:p>
        </c:rich>
      </c:tx>
      <c:layout/>
      <c:spPr>
        <a:ln>
          <a:noFill/>
        </a:ln>
      </c:spPr>
    </c:title>
    <c:plotArea>
      <c:layout/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Microseconds</c:v>
                </c:pt>
              </c:strCache>
            </c:strRef>
          </c:tx>
          <c:xVal>
            <c:numRef>
              <c:f>Sheet1!$A$2:$A$13</c:f>
              <c:numCache>
                <c:formatCode>General</c:formatCode>
                <c:ptCount val="12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0.03</c:v>
                </c:pt>
                <c:pt idx="1">
                  <c:v>0.48</c:v>
                </c:pt>
                <c:pt idx="2">
                  <c:v>0.73</c:v>
                </c:pt>
                <c:pt idx="3">
                  <c:v>0.96</c:v>
                </c:pt>
                <c:pt idx="4">
                  <c:v>1.08</c:v>
                </c:pt>
                <c:pt idx="5">
                  <c:v>1.13</c:v>
                </c:pt>
                <c:pt idx="6">
                  <c:v>1.29</c:v>
                </c:pt>
                <c:pt idx="7">
                  <c:v>1.7</c:v>
                </c:pt>
                <c:pt idx="8">
                  <c:v>1.84</c:v>
                </c:pt>
                <c:pt idx="9">
                  <c:v>1.96</c:v>
                </c:pt>
                <c:pt idx="10">
                  <c:v>2.07</c:v>
                </c:pt>
                <c:pt idx="11">
                  <c:v>2.37</c:v>
                </c:pt>
              </c:numCache>
            </c:numRef>
          </c:yVal>
        </c:ser>
        <c:axId val="562057112"/>
        <c:axId val="544148360"/>
      </c:scatterChart>
      <c:valAx>
        <c:axId val="56205711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Threads</a:t>
                </a:r>
              </a:p>
            </c:rich>
          </c:tx>
          <c:layout/>
        </c:title>
        <c:numFmt formatCode="General" sourceLinked="1"/>
        <c:tickLblPos val="nextTo"/>
        <c:crossAx val="544148360"/>
        <c:crosses val="autoZero"/>
        <c:crossBetween val="midCat"/>
      </c:valAx>
      <c:valAx>
        <c:axId val="544148360"/>
        <c:scaling>
          <c:orientation val="minMax"/>
        </c:scaling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Microseconds</a:t>
                </a:r>
              </a:p>
            </c:rich>
          </c:tx>
          <c:layout/>
        </c:title>
        <c:numFmt formatCode="General" sourceLinked="1"/>
        <c:tickLblPos val="nextTo"/>
        <c:crossAx val="562057112"/>
        <c:crosses val="autoZero"/>
        <c:crossBetween val="midCat"/>
      </c:valAx>
    </c:plotArea>
    <c:plotVisOnly val="1"/>
  </c:chart>
  <c:spPr>
    <a:solidFill>
      <a:schemeClr val="bg1"/>
    </a:solidFill>
    <a:ln>
      <a:solidFill>
        <a:schemeClr val="tx1"/>
      </a:solidFill>
    </a:ln>
  </c:spPr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Synchonization overhead</a:t>
            </a:r>
          </a:p>
        </c:rich>
      </c:tx>
      <c:layout/>
    </c:title>
    <c:plotArea>
      <c:layout/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Barrier</c:v>
                </c:pt>
              </c:strCache>
            </c:strRef>
          </c:tx>
          <c:xVal>
            <c:numRef>
              <c:f>Sheet1!$A$2:$A$13</c:f>
              <c:numCache>
                <c:formatCode>General</c:formatCode>
                <c:ptCount val="12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0.01</c:v>
                </c:pt>
                <c:pt idx="1">
                  <c:v>0.29</c:v>
                </c:pt>
                <c:pt idx="2">
                  <c:v>0.39</c:v>
                </c:pt>
                <c:pt idx="3">
                  <c:v>0.6</c:v>
                </c:pt>
                <c:pt idx="4">
                  <c:v>0.67</c:v>
                </c:pt>
                <c:pt idx="5">
                  <c:v>0.67</c:v>
                </c:pt>
                <c:pt idx="6">
                  <c:v>0.82</c:v>
                </c:pt>
                <c:pt idx="7">
                  <c:v>1.14</c:v>
                </c:pt>
                <c:pt idx="8">
                  <c:v>1.27</c:v>
                </c:pt>
                <c:pt idx="9">
                  <c:v>1.27</c:v>
                </c:pt>
                <c:pt idx="10">
                  <c:v>1.26</c:v>
                </c:pt>
                <c:pt idx="11">
                  <c:v>1.25</c:v>
                </c:pt>
              </c:numCache>
            </c:numRef>
          </c:y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</c:v>
                </c:pt>
              </c:strCache>
            </c:strRef>
          </c:tx>
          <c:xVal>
            <c:numRef>
              <c:f>Sheet1!$A$2:$A$13</c:f>
              <c:numCache>
                <c:formatCode>General</c:formatCode>
                <c:ptCount val="12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0.01</c:v>
                </c:pt>
                <c:pt idx="1">
                  <c:v>0.29</c:v>
                </c:pt>
                <c:pt idx="2">
                  <c:v>0.36</c:v>
                </c:pt>
                <c:pt idx="3">
                  <c:v>0.4</c:v>
                </c:pt>
                <c:pt idx="4">
                  <c:v>0.4</c:v>
                </c:pt>
                <c:pt idx="5">
                  <c:v>0.66</c:v>
                </c:pt>
                <c:pt idx="6">
                  <c:v>0.43</c:v>
                </c:pt>
                <c:pt idx="7">
                  <c:v>0.44</c:v>
                </c:pt>
                <c:pt idx="8">
                  <c:v>0.85</c:v>
                </c:pt>
                <c:pt idx="9">
                  <c:v>0.84</c:v>
                </c:pt>
                <c:pt idx="10">
                  <c:v>0.79</c:v>
                </c:pt>
                <c:pt idx="11">
                  <c:v>0.83</c:v>
                </c:pt>
              </c:numCache>
            </c:numRef>
          </c:yVal>
        </c:ser>
        <c:axId val="579807688"/>
        <c:axId val="579814888"/>
      </c:scatterChart>
      <c:valAx>
        <c:axId val="57980768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Threads</a:t>
                </a:r>
              </a:p>
            </c:rich>
          </c:tx>
          <c:layout/>
        </c:title>
        <c:numFmt formatCode="General" sourceLinked="1"/>
        <c:tickLblPos val="nextTo"/>
        <c:crossAx val="579814888"/>
        <c:crosses val="autoZero"/>
        <c:crossBetween val="midCat"/>
      </c:valAx>
      <c:valAx>
        <c:axId val="579814888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Microseconds</a:t>
                </a:r>
              </a:p>
            </c:rich>
          </c:tx>
          <c:layout/>
        </c:title>
        <c:numFmt formatCode="General" sourceLinked="1"/>
        <c:tickLblPos val="nextTo"/>
        <c:crossAx val="579807688"/>
        <c:crosses val="autoZero"/>
        <c:crossBetween val="midCat"/>
      </c:valAx>
    </c:plotArea>
    <c:legend>
      <c:legendPos val="r"/>
      <c:layout/>
    </c:legend>
    <c:plotVisOnly val="1"/>
  </c:chart>
  <c:spPr>
    <a:solidFill>
      <a:schemeClr val="bg1"/>
    </a:solidFill>
    <a:ln>
      <a:solidFill>
        <a:schemeClr val="tx1"/>
      </a:solidFill>
    </a:ln>
  </c:spPr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F3660-469D-8F4A-8182-44128856AEAD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BFDFA-81D1-464B-85CD-3F92706BC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BFDFA-81D1-464B-85CD-3F92706BC79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0" y="6248400"/>
            <a:ext cx="9144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0" y="3429000"/>
            <a:ext cx="9144000" cy="0"/>
          </a:xfrm>
          <a:prstGeom prst="line">
            <a:avLst/>
          </a:prstGeom>
          <a:noFill/>
          <a:ln w="3810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auto">
          <a:xfrm>
            <a:off x="0" y="3454400"/>
            <a:ext cx="5410200" cy="0"/>
          </a:xfrm>
          <a:prstGeom prst="line">
            <a:avLst/>
          </a:prstGeom>
          <a:noFill/>
          <a:ln w="8255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pic>
        <p:nvPicPr>
          <p:cNvPr id="7" name="Picture 12" descr="logoNEUklei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53988"/>
            <a:ext cx="594360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28600"/>
            <a:ext cx="251460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6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  <a:solidFill>
            <a:srgbClr val="DDDDDD"/>
          </a:solidFill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105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3733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  <a:ea typeface="+mn-ea"/>
                <a:cs typeface="+mn-cs"/>
              </a:defRPr>
            </a:lvl1pPr>
          </a:lstStyle>
          <a:p>
            <a:fld id="{AF39BA1F-5487-2341-B919-2A8B3087D758}" type="datetimeFigureOut">
              <a:rPr lang="en-US" smtClean="0"/>
              <a:pPr/>
              <a:t>7/20/11</a:t>
            </a:fld>
            <a:endParaRPr lang="en-US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29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  <a:ea typeface="+mn-ea"/>
                <a:cs typeface="+mn-cs"/>
              </a:defRPr>
            </a:lvl1pPr>
          </a:lstStyle>
          <a:p>
            <a:fld id="{F418C62F-BD94-CB4F-AD08-687A643B08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 descr="ETH logo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04800" y="152400"/>
            <a:ext cx="18288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5176" name="Line 8"/>
          <p:cNvSpPr>
            <a:spLocks noChangeShapeType="1"/>
          </p:cNvSpPr>
          <p:nvPr/>
        </p:nvSpPr>
        <p:spPr bwMode="auto">
          <a:xfrm>
            <a:off x="0" y="1752600"/>
            <a:ext cx="9144000" cy="0"/>
          </a:xfrm>
          <a:prstGeom prst="line">
            <a:avLst/>
          </a:prstGeom>
          <a:noFill/>
          <a:ln w="3810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35177" name="Line 9"/>
          <p:cNvSpPr>
            <a:spLocks noChangeShapeType="1"/>
          </p:cNvSpPr>
          <p:nvPr/>
        </p:nvSpPr>
        <p:spPr bwMode="auto">
          <a:xfrm>
            <a:off x="0" y="1778000"/>
            <a:ext cx="5410200" cy="0"/>
          </a:xfrm>
          <a:prstGeom prst="line">
            <a:avLst/>
          </a:prstGeom>
          <a:noFill/>
          <a:ln w="82550">
            <a:solidFill>
              <a:srgbClr val="FC0A17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135178" name="Line 10"/>
          <p:cNvSpPr>
            <a:spLocks noChangeShapeType="1"/>
          </p:cNvSpPr>
          <p:nvPr/>
        </p:nvSpPr>
        <p:spPr bwMode="auto">
          <a:xfrm>
            <a:off x="0" y="6248400"/>
            <a:ext cx="91440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  <a:cs typeface="+mn-cs"/>
            </a:endParaRPr>
          </a:p>
        </p:txBody>
      </p:sp>
      <p:pic>
        <p:nvPicPr>
          <p:cNvPr id="1035" name="Picture 19" descr="logoNEUklein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019800" y="152400"/>
            <a:ext cx="291465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Osaka" charset="-128"/>
          <a:cs typeface="Osaka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OpenMP Optimization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National Supercomputing Service</a:t>
            </a:r>
          </a:p>
          <a:p>
            <a:r>
              <a:rPr lang="en-US" dirty="0" smtClean="0"/>
              <a:t>Swiss National Supercomputing Center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region overhead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1042256"/>
          </a:xfrm>
        </p:spPr>
        <p:txBody>
          <a:bodyPr/>
          <a:lstStyle/>
          <a:p>
            <a:r>
              <a:rPr lang="en-US" dirty="0" smtClean="0"/>
              <a:t>Creating and destroying parallel regions takes time.  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1532466" y="3023456"/>
          <a:ext cx="6096000" cy="3572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Avoid too many parallel regions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199"/>
            <a:ext cx="7772400" cy="419946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Overhead of creating threads adds up</a:t>
            </a:r>
          </a:p>
          <a:p>
            <a:r>
              <a:rPr lang="en-US" dirty="0" smtClean="0"/>
              <a:t>Can take a long time to insert hundreds of directives</a:t>
            </a:r>
          </a:p>
          <a:p>
            <a:r>
              <a:rPr lang="en-US" dirty="0" smtClean="0"/>
              <a:t>Software engineering issues</a:t>
            </a:r>
          </a:p>
          <a:p>
            <a:pPr lvl="1"/>
            <a:r>
              <a:rPr lang="en-US" dirty="0" smtClean="0"/>
              <a:t>Adding new code to a parallel region means making sure new private variables are accounted for.</a:t>
            </a:r>
          </a:p>
          <a:p>
            <a:r>
              <a:rPr lang="en-US" dirty="0" smtClean="0"/>
              <a:t>Try using one large parallel region with do loops inside or hoist one loop index out of a subroutine and parallelize that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regions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940" y="2336795"/>
            <a:ext cx="2963333" cy="45243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"/>
                <a:cs typeface="Courier"/>
              </a:rPr>
              <a:t>SUBROUTINE </a:t>
            </a:r>
            <a:r>
              <a:rPr lang="en-US" dirty="0" err="1" smtClean="0">
                <a:latin typeface="Courier"/>
                <a:cs typeface="Courier"/>
              </a:rPr>
              <a:t>foo</a:t>
            </a:r>
            <a:r>
              <a:rPr lang="en-US" dirty="0" smtClean="0">
                <a:latin typeface="Courier"/>
                <a:cs typeface="Courier"/>
              </a:rPr>
              <a:t>()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 DO…</a:t>
            </a:r>
          </a:p>
          <a:p>
            <a:r>
              <a:rPr lang="en-US" dirty="0" smtClean="0">
                <a:latin typeface="Courier"/>
                <a:cs typeface="Courier"/>
              </a:rPr>
              <a:t>END SUBROUTINE </a:t>
            </a:r>
            <a:r>
              <a:rPr lang="en-US" dirty="0" err="1" smtClean="0">
                <a:latin typeface="Courier"/>
                <a:cs typeface="Courier"/>
              </a:rPr>
              <a:t>foo</a:t>
            </a:r>
            <a:endParaRPr lang="en-US" dirty="0" smtClean="0">
              <a:latin typeface="Courier"/>
              <a:cs typeface="Courier"/>
            </a:endParaRPr>
          </a:p>
          <a:p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980276" y="2336798"/>
            <a:ext cx="2963333" cy="45243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"/>
                <a:cs typeface="Courier"/>
              </a:rPr>
              <a:t>SUBROUTINE </a:t>
            </a:r>
            <a:r>
              <a:rPr lang="en-US" dirty="0" err="1" smtClean="0">
                <a:latin typeface="Courier"/>
                <a:cs typeface="Courier"/>
              </a:rPr>
              <a:t>foo</a:t>
            </a:r>
            <a:r>
              <a:rPr lang="en-US" dirty="0" smtClean="0">
                <a:latin typeface="Courier"/>
                <a:cs typeface="Courier"/>
              </a:rPr>
              <a:t>()</a:t>
            </a:r>
          </a:p>
          <a:p>
            <a:r>
              <a:rPr lang="en-US" dirty="0" smtClean="0">
                <a:latin typeface="Courier"/>
                <a:cs typeface="Courier"/>
              </a:rPr>
              <a:t>!$OMP PARALLEL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DO…</a:t>
            </a:r>
          </a:p>
          <a:p>
            <a:r>
              <a:rPr lang="en-US" dirty="0" smtClean="0">
                <a:latin typeface="Courier"/>
                <a:cs typeface="Courier"/>
              </a:rPr>
              <a:t>!$OMP END PARALLEL</a:t>
            </a:r>
          </a:p>
          <a:p>
            <a:r>
              <a:rPr lang="en-US" dirty="0" smtClean="0">
                <a:latin typeface="Courier"/>
                <a:cs typeface="Courier"/>
              </a:rPr>
              <a:t>END SUBROUTINE </a:t>
            </a:r>
            <a:r>
              <a:rPr lang="en-US" dirty="0" err="1" smtClean="0">
                <a:latin typeface="Courier"/>
                <a:cs typeface="Courier"/>
              </a:rPr>
              <a:t>foo</a:t>
            </a:r>
            <a:endParaRPr lang="en-US" dirty="0" smtClean="0">
              <a:latin typeface="Courier"/>
              <a:cs typeface="Courier"/>
            </a:endParaRPr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943596" y="2336798"/>
            <a:ext cx="3183471" cy="4801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"/>
                <a:cs typeface="Courier"/>
              </a:rPr>
              <a:t>!$OMP PARALLEL DO</a:t>
            </a:r>
          </a:p>
          <a:p>
            <a:r>
              <a:rPr lang="en-US" dirty="0" smtClean="0">
                <a:latin typeface="Courier"/>
                <a:cs typeface="Courier"/>
              </a:rPr>
              <a:t>DO I = 1, N</a:t>
            </a:r>
          </a:p>
          <a:p>
            <a:r>
              <a:rPr lang="en-US" dirty="0" smtClean="0">
                <a:latin typeface="Courier"/>
                <a:cs typeface="Courier"/>
              </a:rPr>
              <a:t>	CALL </a:t>
            </a:r>
            <a:r>
              <a:rPr lang="en-US" dirty="0" err="1" smtClean="0">
                <a:latin typeface="Courier"/>
                <a:cs typeface="Courier"/>
              </a:rPr>
              <a:t>foo(i</a:t>
            </a:r>
            <a:r>
              <a:rPr lang="en-US" dirty="0" smtClean="0">
                <a:latin typeface="Courier"/>
                <a:cs typeface="Courier"/>
              </a:rPr>
              <a:t>)</a:t>
            </a:r>
          </a:p>
          <a:p>
            <a:r>
              <a:rPr lang="en-US" dirty="0" smtClean="0">
                <a:latin typeface="Courier"/>
                <a:cs typeface="Courier"/>
              </a:rPr>
              <a:t>END DO</a:t>
            </a:r>
          </a:p>
          <a:p>
            <a:r>
              <a:rPr lang="en-US" dirty="0" smtClean="0">
                <a:latin typeface="Courier"/>
                <a:cs typeface="Courier"/>
              </a:rPr>
              <a:t>!$OMP END PARALLEL DO</a:t>
            </a:r>
          </a:p>
          <a:p>
            <a:endParaRPr lang="en-US" dirty="0" smtClean="0">
              <a:latin typeface="Courier"/>
              <a:cs typeface="Courier"/>
            </a:endParaRPr>
          </a:p>
          <a:p>
            <a:endParaRPr lang="en-US" dirty="0" smtClean="0">
              <a:latin typeface="Courier"/>
              <a:cs typeface="Courier"/>
            </a:endParaRPr>
          </a:p>
          <a:p>
            <a:r>
              <a:rPr lang="en-US" dirty="0" smtClean="0">
                <a:latin typeface="Courier"/>
                <a:cs typeface="Courier"/>
              </a:rPr>
              <a:t>SUBROUTINE </a:t>
            </a:r>
            <a:r>
              <a:rPr lang="en-US" dirty="0" err="1" smtClean="0">
                <a:latin typeface="Courier"/>
                <a:cs typeface="Courier"/>
              </a:rPr>
              <a:t>foo(i</a:t>
            </a:r>
            <a:r>
              <a:rPr lang="en-US" dirty="0" smtClean="0">
                <a:latin typeface="Courier"/>
                <a:cs typeface="Courier"/>
              </a:rPr>
              <a:t>)</a:t>
            </a:r>
          </a:p>
          <a:p>
            <a:r>
              <a:rPr lang="en-US" dirty="0" smtClean="0">
                <a:latin typeface="Courier"/>
                <a:cs typeface="Courier"/>
              </a:rPr>
              <a:t>	…many do loops…</a:t>
            </a:r>
          </a:p>
          <a:p>
            <a:r>
              <a:rPr lang="en-US" dirty="0" smtClean="0">
                <a:latin typeface="Courier"/>
                <a:cs typeface="Courier"/>
              </a:rPr>
              <a:t>END SUBROUTINE </a:t>
            </a:r>
            <a:r>
              <a:rPr lang="en-US" dirty="0" err="1" smtClean="0">
                <a:latin typeface="Courier"/>
                <a:cs typeface="Courier"/>
              </a:rPr>
              <a:t>foo</a:t>
            </a:r>
            <a:endParaRPr lang="en-US" dirty="0" smtClean="0">
              <a:latin typeface="Courier"/>
              <a:cs typeface="Courier"/>
            </a:endParaRPr>
          </a:p>
          <a:p>
            <a:endParaRPr lang="en-US" dirty="0" smtClean="0">
              <a:latin typeface="Courier"/>
              <a:cs typeface="Courier"/>
            </a:endParaRPr>
          </a:p>
          <a:p>
            <a:endParaRPr lang="en-US" dirty="0" smtClean="0">
              <a:latin typeface="Courier"/>
              <a:cs typeface="Courier"/>
            </a:endParaRPr>
          </a:p>
          <a:p>
            <a:endParaRPr lang="en-US" dirty="0" smtClean="0">
              <a:latin typeface="Courier"/>
              <a:cs typeface="Courier"/>
            </a:endParaRPr>
          </a:p>
          <a:p>
            <a:endParaRPr lang="en-US" dirty="0" smtClean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  <a:p>
            <a:endParaRPr lang="en-US" dirty="0" smtClean="0">
              <a:latin typeface="Courier"/>
              <a:cs typeface="Courier"/>
            </a:endParaRPr>
          </a:p>
          <a:p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55600" y="1862670"/>
            <a:ext cx="2895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Instead of this….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3234271" y="1862670"/>
            <a:ext cx="270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Do this…..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960529" y="1862670"/>
            <a:ext cx="3183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Or this…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14537" y="5283200"/>
            <a:ext cx="248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Hoisting a loop out of the subroutine….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Synchronization overhead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660400"/>
          </a:xfrm>
        </p:spPr>
        <p:txBody>
          <a:bodyPr/>
          <a:lstStyle/>
          <a:p>
            <a:r>
              <a:rPr lang="en-US" dirty="0" smtClean="0"/>
              <a:t>Synchronization barriers cost time!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1524000" y="26416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 sync points!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199"/>
            <a:ext cx="7772400" cy="4213953"/>
          </a:xfrm>
        </p:spPr>
        <p:txBody>
          <a:bodyPr>
            <a:normAutofit/>
          </a:bodyPr>
          <a:lstStyle/>
          <a:p>
            <a:r>
              <a:rPr lang="en-US" dirty="0" smtClean="0"/>
              <a:t>Eliminate</a:t>
            </a:r>
          </a:p>
          <a:p>
            <a:r>
              <a:rPr lang="en-US" dirty="0" smtClean="0"/>
              <a:t>Use </a:t>
            </a:r>
            <a:r>
              <a:rPr lang="en-US" dirty="0" smtClean="0">
                <a:latin typeface="Courier"/>
                <a:cs typeface="Courier"/>
              </a:rPr>
              <a:t>master </a:t>
            </a:r>
            <a:r>
              <a:rPr lang="en-US" dirty="0" smtClean="0"/>
              <a:t>instead of </a:t>
            </a:r>
            <a:r>
              <a:rPr lang="en-US" dirty="0" smtClean="0">
                <a:latin typeface="Courier"/>
                <a:cs typeface="Courier"/>
              </a:rPr>
              <a:t>single </a:t>
            </a:r>
            <a:r>
              <a:rPr lang="en-US" dirty="0" smtClean="0"/>
              <a:t>since master does not have an implicit barrier.</a:t>
            </a:r>
          </a:p>
          <a:p>
            <a:r>
              <a:rPr lang="en-US" dirty="0" smtClean="0"/>
              <a:t>Use thread private variables to avoid </a:t>
            </a:r>
            <a:r>
              <a:rPr lang="en-US" dirty="0" smtClean="0">
                <a:latin typeface="Courier"/>
                <a:cs typeface="Courier"/>
              </a:rPr>
              <a:t>critical/atomic </a:t>
            </a:r>
            <a:r>
              <a:rPr lang="en-US" dirty="0" smtClean="0"/>
              <a:t>sections</a:t>
            </a:r>
          </a:p>
          <a:p>
            <a:pPr lvl="1"/>
            <a:r>
              <a:rPr lang="en-US" dirty="0" smtClean="0"/>
              <a:t>e.g. promote scalars to vectors indexed by thread number.</a:t>
            </a:r>
          </a:p>
          <a:p>
            <a:r>
              <a:rPr lang="en-US" dirty="0" smtClean="0"/>
              <a:t>Use </a:t>
            </a:r>
            <a:r>
              <a:rPr lang="en-US" dirty="0" smtClean="0">
                <a:latin typeface="Courier"/>
                <a:cs typeface="Courier"/>
              </a:rPr>
              <a:t>NOWAIT </a:t>
            </a:r>
            <a:r>
              <a:rPr lang="en-US" dirty="0" smtClean="0"/>
              <a:t>directive if possible.</a:t>
            </a:r>
          </a:p>
          <a:p>
            <a:pPr lvl="1"/>
            <a:r>
              <a:rPr lang="en-US" dirty="0" smtClean="0">
                <a:latin typeface="Courier"/>
                <a:cs typeface="Courier"/>
              </a:rPr>
              <a:t>!$OMP END PARALLEL DO NOWAIT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205372"/>
          </a:xfrm>
        </p:spPr>
        <p:txBody>
          <a:bodyPr>
            <a:normAutofit/>
          </a:bodyPr>
          <a:lstStyle/>
          <a:p>
            <a:r>
              <a:rPr lang="en-US" dirty="0" smtClean="0"/>
              <a:t>Examine work load in loops and determine if </a:t>
            </a:r>
            <a:r>
              <a:rPr lang="en-US" dirty="0" smtClean="0">
                <a:latin typeface="Courier"/>
                <a:cs typeface="Courier"/>
              </a:rPr>
              <a:t>dynamic </a:t>
            </a:r>
            <a:r>
              <a:rPr lang="en-US" dirty="0" smtClean="0"/>
              <a:t>or </a:t>
            </a:r>
            <a:r>
              <a:rPr lang="en-US" dirty="0" smtClean="0">
                <a:latin typeface="Courier"/>
                <a:cs typeface="Courier"/>
              </a:rPr>
              <a:t>guided </a:t>
            </a:r>
            <a:r>
              <a:rPr lang="en-US" dirty="0" smtClean="0"/>
              <a:t>scheduling would be a better choice.</a:t>
            </a:r>
          </a:p>
          <a:p>
            <a:r>
              <a:rPr lang="en-US" dirty="0" smtClean="0"/>
              <a:t>In nested loops, if outer loop counts are small, consider collapsing loops with </a:t>
            </a:r>
            <a:r>
              <a:rPr lang="en-US" dirty="0" smtClean="0">
                <a:latin typeface="Courier"/>
                <a:cs typeface="Courier"/>
              </a:rPr>
              <a:t>collapse </a:t>
            </a:r>
            <a:r>
              <a:rPr lang="en-US" dirty="0" smtClean="0"/>
              <a:t>directive.</a:t>
            </a:r>
          </a:p>
          <a:p>
            <a:r>
              <a:rPr lang="en-US" dirty="0" smtClean="0"/>
              <a:t>If your work patterns are irregular (e.g. server-worker model), consider nested or tasked parallelism.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Parallelizing non-loop sections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Amdahl’s law, anything you don’t parallelize will limit your performance. </a:t>
            </a:r>
          </a:p>
          <a:p>
            <a:r>
              <a:rPr lang="en-US" dirty="0" smtClean="0"/>
              <a:t>It may be that after threading your do-loops, your run-time profile is dominated by non-parallelized non-loop sections.</a:t>
            </a:r>
          </a:p>
          <a:p>
            <a:r>
              <a:rPr lang="en-US" dirty="0" smtClean="0"/>
              <a:t>You might be able to parallelize these by using OpenMP sections or tasks.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Non-loop 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77803" y="1988026"/>
            <a:ext cx="46798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"/>
                <a:cs typeface="Courier"/>
              </a:rPr>
              <a:t>/* do loop section */</a:t>
            </a:r>
          </a:p>
          <a:p>
            <a:r>
              <a:rPr lang="en-US" dirty="0" smtClean="0">
                <a:latin typeface="Courier"/>
                <a:cs typeface="Courier"/>
              </a:rPr>
              <a:t>#</a:t>
            </a:r>
            <a:r>
              <a:rPr lang="en-US" dirty="0" err="1" smtClean="0">
                <a:latin typeface="Courier"/>
                <a:cs typeface="Courier"/>
              </a:rPr>
              <a:t>pragma</a:t>
            </a:r>
            <a:r>
              <a:rPr lang="en-US" dirty="0" smtClean="0">
                <a:latin typeface="Courier"/>
                <a:cs typeface="Courier"/>
              </a:rPr>
              <a:t> </a:t>
            </a:r>
            <a:r>
              <a:rPr lang="en-US" dirty="0" err="1" smtClean="0">
                <a:latin typeface="Courier"/>
                <a:cs typeface="Courier"/>
              </a:rPr>
              <a:t>omp</a:t>
            </a:r>
            <a:r>
              <a:rPr lang="en-US" dirty="0" smtClean="0">
                <a:latin typeface="Courier"/>
                <a:cs typeface="Courier"/>
              </a:rPr>
              <a:t> parallel sections</a:t>
            </a:r>
          </a:p>
          <a:p>
            <a:r>
              <a:rPr lang="en-US" dirty="0" smtClean="0">
                <a:latin typeface="Courier"/>
                <a:cs typeface="Courier"/>
              </a:rPr>
              <a:t>#</a:t>
            </a:r>
            <a:r>
              <a:rPr lang="en-US" dirty="0" err="1" smtClean="0">
                <a:latin typeface="Courier"/>
                <a:cs typeface="Courier"/>
              </a:rPr>
              <a:t>pragma</a:t>
            </a:r>
            <a:r>
              <a:rPr lang="en-US" dirty="0" smtClean="0">
                <a:latin typeface="Courier"/>
                <a:cs typeface="Courier"/>
              </a:rPr>
              <a:t> </a:t>
            </a:r>
            <a:r>
              <a:rPr lang="en-US" dirty="0" err="1" smtClean="0">
                <a:latin typeface="Courier"/>
                <a:cs typeface="Courier"/>
              </a:rPr>
              <a:t>omp</a:t>
            </a:r>
            <a:r>
              <a:rPr lang="en-US" dirty="0" smtClean="0">
                <a:latin typeface="Courier"/>
                <a:cs typeface="Courier"/>
              </a:rPr>
              <a:t> section </a:t>
            </a:r>
          </a:p>
          <a:p>
            <a:r>
              <a:rPr lang="en-US" dirty="0" smtClean="0">
                <a:latin typeface="Courier"/>
                <a:cs typeface="Courier"/>
              </a:rPr>
              <a:t>{</a:t>
            </a:r>
          </a:p>
          <a:p>
            <a:pPr lvl="1"/>
            <a:r>
              <a:rPr lang="en-US" dirty="0" smtClean="0">
                <a:latin typeface="Courier"/>
                <a:cs typeface="Courier"/>
              </a:rPr>
              <a:t>thread_A_func_1(); </a:t>
            </a:r>
          </a:p>
          <a:p>
            <a:r>
              <a:rPr lang="en-US" dirty="0" smtClean="0">
                <a:latin typeface="Courier"/>
                <a:cs typeface="Courier"/>
              </a:rPr>
              <a:t>	thread_A_func_2(); </a:t>
            </a:r>
          </a:p>
          <a:p>
            <a:r>
              <a:rPr lang="en-US" dirty="0" smtClean="0">
                <a:latin typeface="Courier"/>
                <a:cs typeface="Courier"/>
              </a:rPr>
              <a:t>} </a:t>
            </a:r>
          </a:p>
          <a:p>
            <a:endParaRPr lang="en-US" dirty="0" smtClean="0">
              <a:latin typeface="Courier"/>
              <a:cs typeface="Courier"/>
            </a:endParaRPr>
          </a:p>
          <a:p>
            <a:r>
              <a:rPr lang="en-US" dirty="0" smtClean="0">
                <a:latin typeface="Courier"/>
                <a:cs typeface="Courier"/>
              </a:rPr>
              <a:t>#</a:t>
            </a:r>
            <a:r>
              <a:rPr lang="en-US" dirty="0" err="1" smtClean="0">
                <a:latin typeface="Courier"/>
                <a:cs typeface="Courier"/>
              </a:rPr>
              <a:t>pragma</a:t>
            </a:r>
            <a:r>
              <a:rPr lang="en-US" dirty="0" smtClean="0">
                <a:latin typeface="Courier"/>
                <a:cs typeface="Courier"/>
              </a:rPr>
              <a:t> </a:t>
            </a:r>
            <a:r>
              <a:rPr lang="en-US" dirty="0" err="1" smtClean="0">
                <a:latin typeface="Courier"/>
                <a:cs typeface="Courier"/>
              </a:rPr>
              <a:t>omp</a:t>
            </a:r>
            <a:r>
              <a:rPr lang="en-US" dirty="0" smtClean="0">
                <a:latin typeface="Courier"/>
                <a:cs typeface="Courier"/>
              </a:rPr>
              <a:t> section </a:t>
            </a:r>
          </a:p>
          <a:p>
            <a:r>
              <a:rPr lang="en-US" dirty="0" smtClean="0">
                <a:latin typeface="Courier"/>
                <a:cs typeface="Courier"/>
              </a:rPr>
              <a:t>{ </a:t>
            </a:r>
          </a:p>
          <a:p>
            <a:r>
              <a:rPr lang="en-US" dirty="0" smtClean="0">
                <a:latin typeface="Courier"/>
                <a:cs typeface="Courier"/>
              </a:rPr>
              <a:t>	thread_B_func_1();</a:t>
            </a:r>
          </a:p>
          <a:p>
            <a:r>
              <a:rPr lang="en-US" dirty="0" smtClean="0">
                <a:latin typeface="Courier"/>
                <a:cs typeface="Courier"/>
              </a:rPr>
              <a:t> 	thread_B_func_2(); </a:t>
            </a:r>
          </a:p>
          <a:p>
            <a:r>
              <a:rPr lang="en-US" dirty="0" smtClean="0">
                <a:latin typeface="Courier"/>
                <a:cs typeface="Courier"/>
              </a:rPr>
              <a:t>} </a:t>
            </a:r>
          </a:p>
          <a:p>
            <a:endParaRPr lang="en-US" dirty="0">
              <a:latin typeface="Courier"/>
              <a:cs typeface="Courier"/>
            </a:endParaRPr>
          </a:p>
          <a:p>
            <a:r>
              <a:rPr lang="en-US" dirty="0" smtClean="0">
                <a:latin typeface="Courier"/>
                <a:cs typeface="Courier"/>
              </a:rPr>
              <a:t>} /* implicit barrier */</a:t>
            </a:r>
            <a:endParaRPr lang="en-US" dirty="0">
              <a:latin typeface="Courier"/>
              <a:cs typeface="Courier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757" y="1981200"/>
            <a:ext cx="7900443" cy="4222534"/>
          </a:xfrm>
        </p:spPr>
        <p:txBody>
          <a:bodyPr>
            <a:normAutofit lnSpcReduction="10000"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Most often, the scalability of shared memory programs is limited by the movement of data.</a:t>
            </a:r>
          </a:p>
          <a:p>
            <a:pPr lvl="1">
              <a:buFont typeface="Arial"/>
              <a:buChar char="•"/>
            </a:pPr>
            <a:r>
              <a:rPr lang="en-US" dirty="0" smtClean="0"/>
              <a:t>For MPI-only programs, where memory is compartmentalized, memory  access is less of an explicit problem, but not unimportant.</a:t>
            </a:r>
          </a:p>
          <a:p>
            <a:pPr>
              <a:buFont typeface="Arial"/>
              <a:buChar char="•"/>
            </a:pPr>
            <a:r>
              <a:rPr lang="en-US" dirty="0" smtClean="0"/>
              <a:t>On shared-memory </a:t>
            </a:r>
            <a:r>
              <a:rPr lang="en-US" dirty="0" err="1" smtClean="0"/>
              <a:t>multicore</a:t>
            </a:r>
            <a:r>
              <a:rPr lang="en-US" dirty="0" smtClean="0"/>
              <a:t> chips, the latency and bandwidth of memory access depends on their locality.</a:t>
            </a:r>
          </a:p>
          <a:p>
            <a:pPr>
              <a:buFont typeface="Arial"/>
              <a:buChar char="•"/>
            </a:pPr>
            <a:r>
              <a:rPr lang="en-US" dirty="0" smtClean="0"/>
              <a:t>Achieving good speedup means Locality is King.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Initial data distribution determines on which CPU data is placed</a:t>
            </a:r>
          </a:p>
          <a:p>
            <a:pPr lvl="1"/>
            <a:r>
              <a:rPr lang="en-US" i="1" dirty="0" smtClean="0"/>
              <a:t>first touch </a:t>
            </a:r>
            <a:r>
              <a:rPr lang="en-US" dirty="0" smtClean="0"/>
              <a:t>memory policy (see next)</a:t>
            </a:r>
          </a:p>
          <a:p>
            <a:r>
              <a:rPr lang="en-US" dirty="0" smtClean="0"/>
              <a:t>Work distribution (i.e. scheduling)</a:t>
            </a:r>
          </a:p>
          <a:p>
            <a:pPr lvl="1"/>
            <a:r>
              <a:rPr lang="en-US" dirty="0" smtClean="0"/>
              <a:t>Chunk size</a:t>
            </a:r>
          </a:p>
          <a:p>
            <a:r>
              <a:rPr lang="en-US" dirty="0" smtClean="0"/>
              <a:t>“Cache friendliness” determines how often main memory is accessed (see next)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touch policy (page locality)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199"/>
            <a:ext cx="7772400" cy="423969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Under Linux, memory is managed via a </a:t>
            </a:r>
            <a:r>
              <a:rPr lang="en-US" i="1" dirty="0" smtClean="0"/>
              <a:t>first touch </a:t>
            </a:r>
            <a:r>
              <a:rPr lang="en-US" dirty="0" smtClean="0"/>
              <a:t>policy.</a:t>
            </a:r>
          </a:p>
          <a:p>
            <a:pPr lvl="1"/>
            <a:r>
              <a:rPr lang="en-US" dirty="0" smtClean="0"/>
              <a:t>Memory allocation functions (e.g. </a:t>
            </a:r>
            <a:r>
              <a:rPr lang="en-US" dirty="0" err="1" smtClean="0">
                <a:latin typeface="Courier"/>
                <a:cs typeface="Courier"/>
              </a:rPr>
              <a:t>malloc,ALLOCATE</a:t>
            </a:r>
            <a:r>
              <a:rPr lang="en-US" dirty="0" smtClean="0"/>
              <a:t>) don’t actually allocate your memory. This is done when a processor first tries to access a memory reference.</a:t>
            </a:r>
          </a:p>
          <a:p>
            <a:pPr lvl="1"/>
            <a:r>
              <a:rPr lang="en-US" dirty="0" smtClean="0"/>
              <a:t>Problem: Memory will be placed on the core that ‘touches’ it first.</a:t>
            </a:r>
          </a:p>
          <a:p>
            <a:r>
              <a:rPr lang="en-US" dirty="0" smtClean="0"/>
              <a:t>For good spatial locality, best to have the memory a processor needs on the same CPU. </a:t>
            </a:r>
          </a:p>
          <a:p>
            <a:pPr lvl="1"/>
            <a:r>
              <a:rPr lang="en-US" dirty="0" smtClean="0"/>
              <a:t>Initialize your memory as soon as you allocate it.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Changing the type of loop scheduling, or changing the chunk size of your current schedule, may make your algorithm more cache friendly by improving spatial and/or temporal locality.</a:t>
            </a:r>
          </a:p>
          <a:p>
            <a:pPr lvl="1"/>
            <a:r>
              <a:rPr lang="en-US" dirty="0" smtClean="0"/>
              <a:t>Are your chunk sizes ‘cache size aware’? Does it matter?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Cache….what is it good for?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947783"/>
            <a:ext cx="5515092" cy="4118661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On CPUs, </a:t>
            </a:r>
            <a:r>
              <a:rPr lang="en-US" i="1" dirty="0" smtClean="0"/>
              <a:t>cache </a:t>
            </a:r>
            <a:r>
              <a:rPr lang="en-US" dirty="0" smtClean="0"/>
              <a:t>is smaller/faster memory buffer which stores copies of data in the larger/slower main memory.</a:t>
            </a:r>
          </a:p>
          <a:p>
            <a:r>
              <a:rPr lang="en-US" dirty="0" smtClean="0"/>
              <a:t>When the CPU needs to read or write data, it first checks to see if it is in the cache instead of going to main memory.</a:t>
            </a:r>
          </a:p>
          <a:p>
            <a:r>
              <a:rPr lang="en-US" dirty="0" smtClean="0"/>
              <a:t>If it isn’t in cache, accessing a memory reference (e.g. </a:t>
            </a:r>
            <a:r>
              <a:rPr lang="en-US" dirty="0" err="1" smtClean="0"/>
              <a:t>A(i</a:t>
            </a:r>
            <a:r>
              <a:rPr lang="en-US" dirty="0" smtClean="0"/>
              <a:t>), an array element) loads in not only that piece of memory but an entire section of memory called a </a:t>
            </a:r>
            <a:r>
              <a:rPr lang="en-US" i="1" dirty="0" smtClean="0"/>
              <a:t>cache line </a:t>
            </a:r>
            <a:r>
              <a:rPr lang="en-US" dirty="0" smtClean="0"/>
              <a:t>(64 bytes for Istanbul chips). </a:t>
            </a:r>
          </a:p>
          <a:p>
            <a:r>
              <a:rPr lang="en-US" dirty="0" smtClean="0"/>
              <a:t>Loading a cache line improves performance because it is likely that your code will use data adjacent to that (e.g. in loops: … A(i-2) A(i-1) </a:t>
            </a:r>
            <a:r>
              <a:rPr lang="en-US" dirty="0" err="1" smtClean="0"/>
              <a:t>A(i</a:t>
            </a:r>
            <a:r>
              <a:rPr lang="en-US" dirty="0" smtClean="0"/>
              <a:t>) A(i+1) A(i+2) )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6265710" y="4635290"/>
            <a:ext cx="2331613" cy="398046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RAM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6265710" y="3924494"/>
            <a:ext cx="2331613" cy="39804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Cache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6217398" y="3213698"/>
            <a:ext cx="2331613" cy="39804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04939" y="3941656"/>
            <a:ext cx="1383803" cy="17059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>
            <a:stCxn id="37" idx="2"/>
            <a:endCxn id="37" idx="0"/>
          </p:cNvCxnSpPr>
          <p:nvPr/>
        </p:nvCxnSpPr>
        <p:spPr>
          <a:xfrm rot="5400000" flipH="1">
            <a:off x="7811545" y="4026952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>
            <a:off x="7655026" y="4026439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 flipH="1">
            <a:off x="7468642" y="4026951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 flipH="1">
            <a:off x="7288558" y="4027201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 flipH="1">
            <a:off x="8152654" y="4026157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 flipH="1">
            <a:off x="8335076" y="4026919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 flipH="1">
            <a:off x="7989937" y="4026919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054446" y="4761746"/>
            <a:ext cx="1383803" cy="17059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>
            <a:stCxn id="45" idx="2"/>
            <a:endCxn id="45" idx="0"/>
          </p:cNvCxnSpPr>
          <p:nvPr/>
        </p:nvCxnSpPr>
        <p:spPr>
          <a:xfrm rot="5400000" flipH="1">
            <a:off x="7661052" y="4847042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 flipH="1">
            <a:off x="7495952" y="4846529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>
            <a:off x="7309568" y="4847041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5400000" flipH="1">
            <a:off x="7129484" y="4847291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rot="5400000" flipH="1">
            <a:off x="7993580" y="4846247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 flipH="1">
            <a:off x="8176002" y="4847009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rot="5400000" flipH="1">
            <a:off x="7830863" y="4847009"/>
            <a:ext cx="170591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746211" y="3950349"/>
            <a:ext cx="149870" cy="140313"/>
          </a:xfrm>
          <a:prstGeom prst="rect">
            <a:avLst/>
          </a:prstGeom>
          <a:solidFill>
            <a:srgbClr val="336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Arrow Connector 53"/>
          <p:cNvCxnSpPr>
            <a:endCxn id="53" idx="0"/>
          </p:cNvCxnSpPr>
          <p:nvPr/>
        </p:nvCxnSpPr>
        <p:spPr>
          <a:xfrm rot="5400000">
            <a:off x="7571911" y="3700318"/>
            <a:ext cx="499267" cy="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 flipH="1" flipV="1">
            <a:off x="6801175" y="4349400"/>
            <a:ext cx="665616" cy="1590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5400000" flipH="1" flipV="1">
            <a:off x="8184978" y="4326771"/>
            <a:ext cx="665616" cy="1590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friendliness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17105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Locality of references</a:t>
            </a:r>
          </a:p>
          <a:p>
            <a:pPr lvl="1"/>
            <a:r>
              <a:rPr lang="en-US" dirty="0" smtClean="0"/>
              <a:t>Temporal locality: data is likely to be reused soon. Reuse same cache line. (might use </a:t>
            </a:r>
            <a:r>
              <a:rPr lang="en-US" i="1" dirty="0" smtClean="0"/>
              <a:t>cache blocking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Spatial locality: adjacent data is likely to be needed soon. Load adjacent cache lines.</a:t>
            </a:r>
          </a:p>
          <a:p>
            <a:r>
              <a:rPr lang="en-US" dirty="0" smtClean="0"/>
              <a:t>Low cache contention</a:t>
            </a:r>
          </a:p>
          <a:p>
            <a:pPr lvl="1"/>
            <a:r>
              <a:rPr lang="en-US" dirty="0" smtClean="0"/>
              <a:t>Avoid sharing of cache lines among different threads (may need to increase array sizes or ranks) (see False Sharing)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Spatial locality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2053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best kind of spatial locality is where your next data reference is adjacent to you in memory, e.g. stride-1 array references.</a:t>
            </a:r>
          </a:p>
          <a:p>
            <a:r>
              <a:rPr lang="en-US" dirty="0" smtClean="0"/>
              <a:t>Try to avoid striding across cache lines (e.g. matrix-matrix multiplies). If you have to try to</a:t>
            </a:r>
          </a:p>
          <a:p>
            <a:pPr lvl="1"/>
            <a:r>
              <a:rPr lang="en-US" dirty="0" err="1" smtClean="0"/>
              <a:t>Refactor</a:t>
            </a:r>
            <a:r>
              <a:rPr lang="en-US" dirty="0" smtClean="0"/>
              <a:t> your algorithm for stride-1 arrays</a:t>
            </a:r>
          </a:p>
          <a:p>
            <a:pPr lvl="1"/>
            <a:r>
              <a:rPr lang="en-US" dirty="0" err="1" smtClean="0"/>
              <a:t>Refactor</a:t>
            </a:r>
            <a:r>
              <a:rPr lang="en-US" dirty="0" smtClean="0"/>
              <a:t> your algorithm to use </a:t>
            </a:r>
            <a:r>
              <a:rPr lang="en-US" i="1" dirty="0" smtClean="0"/>
              <a:t>loop blocking </a:t>
            </a:r>
            <a:r>
              <a:rPr lang="en-US" dirty="0" smtClean="0"/>
              <a:t>so that you can improve data reuse (temporal locality)</a:t>
            </a:r>
          </a:p>
          <a:p>
            <a:pPr lvl="2"/>
            <a:r>
              <a:rPr lang="en-US" dirty="0" smtClean="0"/>
              <a:t>E.g. decomposing a large matrix into many smaller blocks and using OpenMP on the number of blocks rather than on the array indices themselves.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blocking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5487" y="2485724"/>
            <a:ext cx="39004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urier"/>
                <a:cs typeface="Courier"/>
              </a:rPr>
              <a:t>DO </a:t>
            </a:r>
            <a:r>
              <a:rPr lang="en-US" sz="1400" dirty="0" err="1" smtClean="0">
                <a:latin typeface="Courier"/>
                <a:cs typeface="Courier"/>
              </a:rPr>
              <a:t>k</a:t>
            </a:r>
            <a:r>
              <a:rPr lang="en-US" sz="1400" dirty="0" smtClean="0">
                <a:latin typeface="Courier"/>
                <a:cs typeface="Courier"/>
              </a:rPr>
              <a:t> = 1, N3</a:t>
            </a:r>
          </a:p>
          <a:p>
            <a:r>
              <a:rPr lang="en-US" sz="1400" dirty="0" smtClean="0">
                <a:latin typeface="Courier"/>
                <a:cs typeface="Courier"/>
              </a:rPr>
              <a:t>	DO j = 1, N2</a:t>
            </a:r>
          </a:p>
          <a:p>
            <a:r>
              <a:rPr lang="en-US" sz="1400" dirty="0" smtClean="0">
                <a:latin typeface="Courier"/>
                <a:cs typeface="Courier"/>
              </a:rPr>
              <a:t>		DO </a:t>
            </a:r>
            <a:r>
              <a:rPr lang="en-US" sz="1400" dirty="0" err="1" smtClean="0">
                <a:latin typeface="Courier"/>
                <a:cs typeface="Courier"/>
              </a:rPr>
              <a:t>i</a:t>
            </a:r>
            <a:r>
              <a:rPr lang="en-US" sz="1400" dirty="0" smtClean="0">
                <a:latin typeface="Courier"/>
                <a:cs typeface="Courier"/>
              </a:rPr>
              <a:t> = 1, N1</a:t>
            </a:r>
          </a:p>
          <a:p>
            <a:r>
              <a:rPr lang="en-US" sz="1400" dirty="0" smtClean="0">
                <a:latin typeface="Courier"/>
                <a:cs typeface="Courier"/>
              </a:rPr>
              <a:t>			! Update </a:t>
            </a:r>
            <a:r>
              <a:rPr lang="en-US" sz="1400" dirty="0" err="1" smtClean="0">
                <a:latin typeface="Courier"/>
                <a:cs typeface="Courier"/>
              </a:rPr>
              <a:t>f</a:t>
            </a:r>
            <a:r>
              <a:rPr lang="en-US" sz="1400" dirty="0" smtClean="0">
                <a:latin typeface="Courier"/>
                <a:cs typeface="Courier"/>
              </a:rPr>
              <a:t> using some</a:t>
            </a:r>
          </a:p>
          <a:p>
            <a:r>
              <a:rPr lang="en-US" sz="1400" dirty="0" smtClean="0">
                <a:latin typeface="Courier"/>
                <a:cs typeface="Courier"/>
              </a:rPr>
              <a:t>			! kind of stencil</a:t>
            </a:r>
          </a:p>
          <a:p>
            <a:r>
              <a:rPr lang="en-US" sz="1400" dirty="0" smtClean="0">
                <a:latin typeface="Courier"/>
                <a:cs typeface="Courier"/>
              </a:rPr>
              <a:t>			</a:t>
            </a:r>
            <a:r>
              <a:rPr lang="en-US" sz="1400" dirty="0" err="1" smtClean="0">
                <a:latin typeface="Courier"/>
                <a:cs typeface="Courier"/>
              </a:rPr>
              <a:t>f(i,j,k</a:t>
            </a:r>
            <a:r>
              <a:rPr lang="en-US" sz="1400" dirty="0" smtClean="0">
                <a:latin typeface="Courier"/>
                <a:cs typeface="Courier"/>
              </a:rPr>
              <a:t>) = … </a:t>
            </a:r>
          </a:p>
          <a:p>
            <a:r>
              <a:rPr lang="en-US" sz="1400" dirty="0" smtClean="0">
                <a:latin typeface="Courier"/>
                <a:cs typeface="Courier"/>
              </a:rPr>
              <a:t>		END DO</a:t>
            </a:r>
          </a:p>
          <a:p>
            <a:r>
              <a:rPr lang="en-US" sz="1400" dirty="0" smtClean="0">
                <a:latin typeface="Courier"/>
                <a:cs typeface="Courier"/>
              </a:rPr>
              <a:t>	END DO</a:t>
            </a:r>
          </a:p>
          <a:p>
            <a:r>
              <a:rPr lang="en-US" sz="1400" dirty="0" smtClean="0">
                <a:latin typeface="Courier"/>
                <a:cs typeface="Courier"/>
              </a:rPr>
              <a:t>END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5224" y="2485724"/>
            <a:ext cx="46061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Courier"/>
                <a:cs typeface="Courier"/>
              </a:rPr>
              <a:t>DO KBLOCK = 1, N3, BS3</a:t>
            </a:r>
          </a:p>
          <a:p>
            <a:r>
              <a:rPr lang="en-US" sz="1400" dirty="0" smtClean="0">
                <a:latin typeface="Courier"/>
                <a:cs typeface="Courier"/>
              </a:rPr>
              <a:t>DO JBLOCK = 1, N2, BS2</a:t>
            </a:r>
          </a:p>
          <a:p>
            <a:r>
              <a:rPr lang="en-US" sz="1400" dirty="0" smtClean="0">
                <a:latin typeface="Courier"/>
                <a:cs typeface="Courier"/>
              </a:rPr>
              <a:t>DO </a:t>
            </a:r>
            <a:r>
              <a:rPr lang="en-US" sz="1400" dirty="0" err="1" smtClean="0">
                <a:latin typeface="Courier"/>
                <a:cs typeface="Courier"/>
              </a:rPr>
              <a:t>k</a:t>
            </a:r>
            <a:r>
              <a:rPr lang="en-US" sz="1400" dirty="0" smtClean="0">
                <a:latin typeface="Courier"/>
                <a:cs typeface="Courier"/>
              </a:rPr>
              <a:t> = KBLOCK, MIN(KBLOCK+BS3-1,N3)</a:t>
            </a:r>
          </a:p>
          <a:p>
            <a:r>
              <a:rPr lang="en-US" sz="1400" dirty="0" smtClean="0">
                <a:latin typeface="Courier"/>
                <a:cs typeface="Courier"/>
              </a:rPr>
              <a:t>	DO </a:t>
            </a:r>
            <a:r>
              <a:rPr lang="en-US" sz="1400" dirty="0" err="1" smtClean="0">
                <a:latin typeface="Courier"/>
                <a:cs typeface="Courier"/>
              </a:rPr>
              <a:t>j</a:t>
            </a:r>
            <a:r>
              <a:rPr lang="en-US" sz="1400" dirty="0" smtClean="0">
                <a:latin typeface="Courier"/>
                <a:cs typeface="Courier"/>
              </a:rPr>
              <a:t> = JBLOCK,MIN(JBLOCK+BS2-1,N2)</a:t>
            </a:r>
          </a:p>
          <a:p>
            <a:r>
              <a:rPr lang="en-US" sz="1400" dirty="0" smtClean="0">
                <a:latin typeface="Courier"/>
                <a:cs typeface="Courier"/>
              </a:rPr>
              <a:t>		DO </a:t>
            </a:r>
            <a:r>
              <a:rPr lang="en-US" sz="1400" dirty="0" err="1" smtClean="0">
                <a:latin typeface="Courier"/>
                <a:cs typeface="Courier"/>
              </a:rPr>
              <a:t>i</a:t>
            </a:r>
            <a:r>
              <a:rPr lang="en-US" sz="1400" dirty="0" smtClean="0">
                <a:latin typeface="Courier"/>
                <a:cs typeface="Courier"/>
              </a:rPr>
              <a:t> = 1,N1</a:t>
            </a:r>
          </a:p>
          <a:p>
            <a:r>
              <a:rPr lang="en-US" sz="1400" dirty="0" smtClean="0">
                <a:latin typeface="Courier"/>
                <a:cs typeface="Courier"/>
              </a:rPr>
              <a:t>			</a:t>
            </a:r>
            <a:r>
              <a:rPr lang="en-US" sz="1400" dirty="0" err="1" smtClean="0">
                <a:latin typeface="Courier"/>
                <a:cs typeface="Courier"/>
              </a:rPr>
              <a:t>f(i,j,k</a:t>
            </a:r>
            <a:r>
              <a:rPr lang="en-US" sz="1400" dirty="0" smtClean="0">
                <a:latin typeface="Courier"/>
                <a:cs typeface="Courier"/>
              </a:rPr>
              <a:t>) = … </a:t>
            </a:r>
          </a:p>
          <a:p>
            <a:r>
              <a:rPr lang="en-US" sz="1400" dirty="0" smtClean="0">
                <a:latin typeface="Courier"/>
                <a:cs typeface="Courier"/>
              </a:rPr>
              <a:t>		END DO</a:t>
            </a:r>
          </a:p>
          <a:p>
            <a:r>
              <a:rPr lang="en-US" sz="1400" dirty="0" smtClean="0">
                <a:latin typeface="Courier"/>
                <a:cs typeface="Courier"/>
              </a:rPr>
              <a:t>	END DO</a:t>
            </a:r>
          </a:p>
          <a:p>
            <a:r>
              <a:rPr lang="en-US" sz="1400" dirty="0" smtClean="0">
                <a:latin typeface="Courier"/>
                <a:cs typeface="Courier"/>
              </a:rPr>
              <a:t>END DO</a:t>
            </a:r>
          </a:p>
          <a:p>
            <a:r>
              <a:rPr lang="en-US" sz="1400" dirty="0" smtClean="0">
                <a:latin typeface="Courier"/>
                <a:cs typeface="Courier"/>
              </a:rPr>
              <a:t>END DO</a:t>
            </a:r>
          </a:p>
          <a:p>
            <a:r>
              <a:rPr lang="en-US" sz="1400" dirty="0" smtClean="0">
                <a:latin typeface="Courier"/>
                <a:cs typeface="Courier"/>
              </a:rPr>
              <a:t>END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487" y="1947784"/>
            <a:ext cx="3900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Unblocked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57769" y="1947784"/>
            <a:ext cx="3900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Blocked in two dimensions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5487" y="5068071"/>
            <a:ext cx="421973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Stride-1 innermost loop = good spatial locality.</a:t>
            </a:r>
          </a:p>
          <a:p>
            <a:pPr>
              <a:buFont typeface="Arial"/>
              <a:buChar char="•"/>
            </a:pPr>
            <a:r>
              <a:rPr lang="en-US" dirty="0" smtClean="0"/>
              <a:t>Loop over blocks on outermost loop = good candidate for OpenMP directives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03805" y="5076652"/>
            <a:ext cx="4606119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Independent blocks with smaller size = better data reuse (temporal locality)</a:t>
            </a:r>
          </a:p>
          <a:p>
            <a:pPr>
              <a:buFont typeface="Arial"/>
              <a:buChar char="•"/>
            </a:pPr>
            <a:r>
              <a:rPr lang="en-US" dirty="0" smtClean="0"/>
              <a:t>Experiment to tune block size to cache size.</a:t>
            </a:r>
          </a:p>
          <a:p>
            <a:pPr>
              <a:buFont typeface="Arial"/>
              <a:buChar char="•"/>
            </a:pPr>
            <a:r>
              <a:rPr lang="en-US" dirty="0" smtClean="0"/>
              <a:t>Compiler may do this for you.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175487" y="5068071"/>
            <a:ext cx="8825856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blocking problems </a:t>
            </a:r>
            <a:r>
              <a:rPr lang="en-US" sz="1800" dirty="0" smtClean="0"/>
              <a:t>(</a:t>
            </a:r>
            <a:r>
              <a:rPr lang="en-US" sz="1800" dirty="0" err="1" smtClean="0"/>
              <a:t>J.Larkin,Cray</a:t>
            </a:r>
            <a:r>
              <a:rPr lang="en-US" sz="1800" dirty="0" smtClean="0"/>
              <a:t>)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265436"/>
          </a:xfrm>
        </p:spPr>
        <p:txBody>
          <a:bodyPr>
            <a:normAutofit/>
          </a:bodyPr>
          <a:lstStyle/>
          <a:p>
            <a:r>
              <a:rPr lang="en-US" dirty="0" smtClean="0"/>
              <a:t>Block size too small </a:t>
            </a:r>
          </a:p>
          <a:p>
            <a:pPr lvl="1"/>
            <a:r>
              <a:rPr lang="en-US" dirty="0" smtClean="0"/>
              <a:t>too much loop overhead</a:t>
            </a:r>
          </a:p>
          <a:p>
            <a:r>
              <a:rPr lang="en-US" dirty="0" smtClean="0"/>
              <a:t>Block size too large</a:t>
            </a:r>
          </a:p>
          <a:p>
            <a:pPr lvl="1"/>
            <a:r>
              <a:rPr lang="en-US" dirty="0" smtClean="0"/>
              <a:t>Data falling out of cache</a:t>
            </a:r>
          </a:p>
          <a:p>
            <a:r>
              <a:rPr lang="en-US" dirty="0" smtClean="0"/>
              <a:t>Blocking the wrong set of loops</a:t>
            </a:r>
          </a:p>
          <a:p>
            <a:r>
              <a:rPr lang="en-US" dirty="0" smtClean="0"/>
              <a:t>Compiler is already doing it</a:t>
            </a:r>
          </a:p>
          <a:p>
            <a:r>
              <a:rPr lang="en-US" dirty="0" smtClean="0"/>
              <a:t>Computational intensity is already large making blocking unimportant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False Sharing (cache contention)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it?</a:t>
            </a:r>
          </a:p>
          <a:p>
            <a:r>
              <a:rPr lang="en-US" dirty="0" smtClean="0"/>
              <a:t>How does it affect performance?</a:t>
            </a:r>
          </a:p>
          <a:p>
            <a:r>
              <a:rPr lang="en-US" dirty="0" smtClean="0"/>
              <a:t>What does this have to do with OpenMP?</a:t>
            </a:r>
          </a:p>
          <a:p>
            <a:r>
              <a:rPr lang="en-US" dirty="0" smtClean="0"/>
              <a:t>How to avoid it?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4267" y="1879140"/>
            <a:ext cx="418359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urier"/>
                <a:cs typeface="Courier"/>
              </a:rPr>
              <a:t>int</a:t>
            </a:r>
            <a:r>
              <a:rPr lang="en-US" dirty="0" smtClean="0">
                <a:latin typeface="Courier"/>
                <a:cs typeface="Courier"/>
              </a:rPr>
              <a:t> val1, val2;</a:t>
            </a:r>
          </a:p>
          <a:p>
            <a:endParaRPr lang="en-US" dirty="0" smtClean="0">
              <a:latin typeface="Courier"/>
              <a:cs typeface="Courier"/>
            </a:endParaRPr>
          </a:p>
          <a:p>
            <a:r>
              <a:rPr lang="en-US" dirty="0" smtClean="0">
                <a:latin typeface="Courier"/>
                <a:cs typeface="Courier"/>
              </a:rPr>
              <a:t>Void func1() {</a:t>
            </a:r>
          </a:p>
          <a:p>
            <a:r>
              <a:rPr lang="en-US" dirty="0" smtClean="0">
                <a:latin typeface="Courier"/>
                <a:cs typeface="Courier"/>
              </a:rPr>
              <a:t>	val1 = 0;</a:t>
            </a:r>
          </a:p>
          <a:p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err="1" smtClean="0">
                <a:latin typeface="Courier"/>
                <a:cs typeface="Courier"/>
              </a:rPr>
              <a:t>for(i</a:t>
            </a:r>
            <a:r>
              <a:rPr lang="en-US" dirty="0" smtClean="0">
                <a:latin typeface="Courier"/>
                <a:cs typeface="Courier"/>
              </a:rPr>
              <a:t>=0; 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&lt;N; 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++){</a:t>
            </a:r>
          </a:p>
          <a:p>
            <a:r>
              <a:rPr lang="en-US" dirty="0" smtClean="0">
                <a:latin typeface="Courier"/>
                <a:cs typeface="Courier"/>
              </a:rPr>
              <a:t>		val1 += …;</a:t>
            </a:r>
          </a:p>
          <a:p>
            <a:r>
              <a:rPr lang="en-US" dirty="0" smtClean="0">
                <a:latin typeface="Courier"/>
                <a:cs typeface="Courier"/>
              </a:rPr>
              <a:t>	}</a:t>
            </a:r>
          </a:p>
          <a:p>
            <a:r>
              <a:rPr lang="en-US" dirty="0" smtClean="0">
                <a:latin typeface="Courier"/>
                <a:cs typeface="Courier"/>
              </a:rPr>
              <a:t>}</a:t>
            </a:r>
          </a:p>
          <a:p>
            <a:r>
              <a:rPr lang="en-US" dirty="0" smtClean="0">
                <a:latin typeface="Courier"/>
                <a:cs typeface="Courier"/>
              </a:rPr>
              <a:t>Void func2() {</a:t>
            </a:r>
          </a:p>
          <a:p>
            <a:r>
              <a:rPr lang="en-US" dirty="0" smtClean="0">
                <a:latin typeface="Courier"/>
                <a:cs typeface="Courier"/>
              </a:rPr>
              <a:t>	val2 = 0;</a:t>
            </a:r>
          </a:p>
          <a:p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err="1" smtClean="0">
                <a:latin typeface="Courier"/>
                <a:cs typeface="Courier"/>
              </a:rPr>
              <a:t>for(i</a:t>
            </a:r>
            <a:r>
              <a:rPr lang="en-US" dirty="0" smtClean="0">
                <a:latin typeface="Courier"/>
                <a:cs typeface="Courier"/>
              </a:rPr>
              <a:t>=0; 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&lt;N; </a:t>
            </a:r>
            <a:r>
              <a:rPr lang="en-US" dirty="0" err="1" smtClean="0">
                <a:latin typeface="Courier"/>
                <a:cs typeface="Courier"/>
              </a:rPr>
              <a:t>i</a:t>
            </a:r>
            <a:r>
              <a:rPr lang="en-US" dirty="0" smtClean="0">
                <a:latin typeface="Courier"/>
                <a:cs typeface="Courier"/>
              </a:rPr>
              <a:t>++ ){</a:t>
            </a:r>
          </a:p>
          <a:p>
            <a:r>
              <a:rPr lang="en-US" dirty="0" smtClean="0">
                <a:latin typeface="Courier"/>
                <a:cs typeface="Courier"/>
              </a:rPr>
              <a:t>		val2 += …;</a:t>
            </a:r>
          </a:p>
          <a:p>
            <a:r>
              <a:rPr lang="en-US" dirty="0" smtClean="0">
                <a:latin typeface="Courier"/>
                <a:cs typeface="Courier"/>
              </a:rPr>
              <a:t>	}</a:t>
            </a:r>
          </a:p>
          <a:p>
            <a:r>
              <a:rPr lang="en-US" dirty="0" smtClean="0">
                <a:latin typeface="Courier"/>
                <a:cs typeface="Courier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7998" y="1879140"/>
            <a:ext cx="4476002" cy="4801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Because val1 and val2 are adjacent to each other in their declaration, they will likely be allocated next to each other in memory in the same cache line.</a:t>
            </a:r>
          </a:p>
          <a:p>
            <a:endParaRPr lang="en-US" dirty="0" smtClean="0"/>
          </a:p>
          <a:p>
            <a:r>
              <a:rPr lang="en-US" dirty="0" smtClean="0"/>
              <a:t>Val1 locks cache. Val2 then shares it.</a:t>
            </a:r>
          </a:p>
          <a:p>
            <a:r>
              <a:rPr lang="en-US" dirty="0" smtClean="0"/>
              <a:t>func1 updates val1, invalidating func2’s cache.</a:t>
            </a:r>
          </a:p>
          <a:p>
            <a:endParaRPr lang="en-US" dirty="0" smtClean="0"/>
          </a:p>
          <a:p>
            <a:r>
              <a:rPr lang="en-US" dirty="0" smtClean="0"/>
              <a:t>Func2 updates val2, but it has a coherence miss so it invalidates val1’s cache, forcing func1 to write back to memory</a:t>
            </a:r>
          </a:p>
          <a:p>
            <a:endParaRPr lang="en-US" dirty="0" smtClean="0"/>
          </a:p>
          <a:p>
            <a:r>
              <a:rPr lang="en-US" dirty="0" smtClean="0"/>
              <a:t>Func1 reads val1 again but it’s cache is invalidate by func2 forcing func2 to do a write back to memory.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avoid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199"/>
            <a:ext cx="7772400" cy="417963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Avoid sharing cache lines.</a:t>
            </a:r>
          </a:p>
          <a:p>
            <a:r>
              <a:rPr lang="en-US" dirty="0" smtClean="0"/>
              <a:t>Work with thread private data.</a:t>
            </a:r>
          </a:p>
          <a:p>
            <a:pPr lvl="1"/>
            <a:r>
              <a:rPr lang="en-US" dirty="0" smtClean="0"/>
              <a:t>May need to create private copies of data or change array ranks.</a:t>
            </a:r>
          </a:p>
          <a:p>
            <a:r>
              <a:rPr lang="en-US" dirty="0" smtClean="0"/>
              <a:t>Align shared data with cache boundaries.</a:t>
            </a:r>
          </a:p>
          <a:p>
            <a:pPr lvl="1"/>
            <a:r>
              <a:rPr lang="en-US" dirty="0" smtClean="0"/>
              <a:t>Increase problem size or change array ranks</a:t>
            </a:r>
          </a:p>
          <a:p>
            <a:r>
              <a:rPr lang="en-US" dirty="0" smtClean="0"/>
              <a:t>Change scheduling chunk size to give each thread more work.</a:t>
            </a:r>
          </a:p>
          <a:p>
            <a:r>
              <a:rPr lang="en-US" dirty="0" smtClean="0"/>
              <a:t>Use optimization of compiler to eliminate loads and stores.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Task/thread migration (affinity)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compute node OS can migrate tasks and threads from one core to another within a node. </a:t>
            </a:r>
          </a:p>
          <a:p>
            <a:r>
              <a:rPr lang="en-US" dirty="0" smtClean="0"/>
              <a:t>In some cases, because of where your allocated memory may be placed (first touch), moving tasks and threads may cause a decrease in performance .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affinity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199"/>
            <a:ext cx="7772400" cy="420272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Options for the </a:t>
            </a:r>
            <a:r>
              <a:rPr lang="en-US" dirty="0" err="1" smtClean="0"/>
              <a:t>aprun</a:t>
            </a:r>
            <a:r>
              <a:rPr lang="en-US" dirty="0" smtClean="0"/>
              <a:t> command enable the user to bind a task or a thread to a particular CPU or subset of CPUs on a node.</a:t>
            </a:r>
          </a:p>
          <a:p>
            <a:pPr lvl="1"/>
            <a:r>
              <a:rPr lang="en-US" dirty="0" smtClean="0"/>
              <a:t>-cc </a:t>
            </a:r>
            <a:r>
              <a:rPr lang="en-US" dirty="0" err="1" smtClean="0"/>
              <a:t>cpu</a:t>
            </a:r>
            <a:r>
              <a:rPr lang="en-US" dirty="0" smtClean="0"/>
              <a:t>: binds tasks to CPUs with the assigned NUMA node.</a:t>
            </a:r>
          </a:p>
          <a:p>
            <a:pPr lvl="1"/>
            <a:r>
              <a:rPr lang="en-US" dirty="0" smtClean="0"/>
              <a:t>-</a:t>
            </a:r>
            <a:r>
              <a:rPr lang="en-US" dirty="0" err="1" smtClean="0"/>
              <a:t>ss</a:t>
            </a:r>
            <a:r>
              <a:rPr lang="en-US" dirty="0" smtClean="0"/>
              <a:t> : a task can only allocate memory local to </a:t>
            </a:r>
            <a:r>
              <a:rPr lang="en-US" smtClean="0"/>
              <a:t>its NUMA node.</a:t>
            </a:r>
          </a:p>
          <a:p>
            <a:pPr lvl="1"/>
            <a:r>
              <a:rPr lang="en-US" dirty="0" smtClean="0"/>
              <a:t>If tasks create threads, the threads are constrained to the same NUMA-node CPUs as the tasks.</a:t>
            </a:r>
          </a:p>
          <a:p>
            <a:pPr lvl="2"/>
            <a:r>
              <a:rPr lang="en-US" dirty="0" smtClean="0"/>
              <a:t>If </a:t>
            </a:r>
            <a:r>
              <a:rPr lang="en-US" dirty="0" err="1" smtClean="0"/>
              <a:t>num_threads</a:t>
            </a:r>
            <a:r>
              <a:rPr lang="en-US" dirty="0" smtClean="0"/>
              <a:t>  &gt; </a:t>
            </a:r>
            <a:r>
              <a:rPr lang="en-US" dirty="0" err="1" smtClean="0"/>
              <a:t>num_cpus</a:t>
            </a:r>
            <a:r>
              <a:rPr lang="en-US" dirty="0" smtClean="0"/>
              <a:t> per NUMA node CPU then additional threads are bound to the next NUMA node.</a:t>
            </a:r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SCS_Presentation">
  <a:themeElements>
    <a:clrScheme name="CSCS_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SCS_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 Neue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 Neue Light" charset="0"/>
          </a:defRPr>
        </a:defPPr>
      </a:lstStyle>
    </a:lnDef>
  </a:objectDefaults>
  <a:extraClrSchemeLst>
    <a:extraClrScheme>
      <a:clrScheme name="CSCS_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CS_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CS_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cscs.pot</Template>
  <TotalTime>3049</TotalTime>
  <Words>1801</Words>
  <Application>Microsoft Macintosh PowerPoint</Application>
  <PresentationFormat>On-screen Show (4:3)</PresentationFormat>
  <Paragraphs>226</Paragraphs>
  <Slides>23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CSCS_Presentation</vt:lpstr>
      <vt:lpstr>OpenMP Optimization</vt:lpstr>
      <vt:lpstr>Parallel region overhead</vt:lpstr>
      <vt:lpstr>Avoid too many parallel regions</vt:lpstr>
      <vt:lpstr>Parallel regions example</vt:lpstr>
      <vt:lpstr>Synchronization overhead</vt:lpstr>
      <vt:lpstr>Minimize sync points!</vt:lpstr>
      <vt:lpstr>Load balancing</vt:lpstr>
      <vt:lpstr>Parallelizing non-loop sections</vt:lpstr>
      <vt:lpstr>Non-loop example</vt:lpstr>
      <vt:lpstr>Memory performance</vt:lpstr>
      <vt:lpstr>Locality</vt:lpstr>
      <vt:lpstr>First touch policy (page locality)</vt:lpstr>
      <vt:lpstr>Work scheduling</vt:lpstr>
      <vt:lpstr>Cache….what is it good for?</vt:lpstr>
      <vt:lpstr>Cache friendliness</vt:lpstr>
      <vt:lpstr>Spatial locality</vt:lpstr>
      <vt:lpstr>Loop blocking</vt:lpstr>
      <vt:lpstr>Common blocking problems (J.Larkin,Cray)</vt:lpstr>
      <vt:lpstr>False Sharing (cache contention)</vt:lpstr>
      <vt:lpstr>Example 1</vt:lpstr>
      <vt:lpstr>How to avoid it?</vt:lpstr>
      <vt:lpstr>Task/thread migration (affinity)</vt:lpstr>
      <vt:lpstr>CPU affinity </vt:lpstr>
    </vt:vector>
  </TitlesOfParts>
  <Company>CSCS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OpenMP Optimization</dc:title>
  <dc:creator>Matthew Cordery</dc:creator>
  <cp:lastModifiedBy>Matthew Cordery</cp:lastModifiedBy>
  <cp:revision>43</cp:revision>
  <dcterms:created xsi:type="dcterms:W3CDTF">2011-07-20T11:39:22Z</dcterms:created>
  <dcterms:modified xsi:type="dcterms:W3CDTF">2011-07-20T13:57:35Z</dcterms:modified>
</cp:coreProperties>
</file>