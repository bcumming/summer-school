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png" ContentType="image/png"/>
  <Override PartName="/ppt/slides/slide11.xml" ContentType="application/vnd.openxmlformats-officedocument.presentationml.slide+xml"/>
  <Default Extension="xml" ContentType="application/xml"/>
  <Override PartName="/ppt/slides/slide9.xml" ContentType="application/vnd.openxmlformats-officedocument.presentationml.slide+xml"/>
  <Default Extension="jpeg" ContentType="image/jpeg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12.xml" ContentType="application/vnd.openxmlformats-officedocument.presentationml.slide+xml"/>
  <Default Extension="bin" ContentType="application/vnd.openxmlformats-officedocument.presentationml.printerSettings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7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713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59" r:id="rId4"/>
    <p:sldId id="256" r:id="rId5"/>
    <p:sldId id="269" r:id="rId6"/>
    <p:sldId id="260" r:id="rId7"/>
    <p:sldId id="261" r:id="rId8"/>
    <p:sldId id="263" r:id="rId9"/>
    <p:sldId id="265" r:id="rId10"/>
    <p:sldId id="266" r:id="rId11"/>
    <p:sldId id="264" r:id="rId12"/>
    <p:sldId id="271" r:id="rId13"/>
    <p:sldId id="267" r:id="rId14"/>
    <p:sldId id="268" r:id="rId15"/>
    <p:sldId id="262" r:id="rId16"/>
    <p:sldId id="270" r:id="rId17"/>
    <p:sldId id="272" r:id="rId18"/>
  </p:sldIdLst>
  <p:sldSz cx="9144000" cy="6858000" type="screen4x3"/>
  <p:notesSz cx="6781800" cy="9918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 Neue Light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 Neue Light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 Neue Light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 Neue Light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 Neue Light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Helvetica Neue Light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Helvetica Neue Light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Helvetica Neue Light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Helvetica Neue Light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FC0A17"/>
    <a:srgbClr val="FF1A27"/>
    <a:srgbClr val="D40024"/>
    <a:srgbClr val="FFCC99"/>
    <a:srgbClr val="DDDDDD"/>
    <a:srgbClr val="FF7C80"/>
    <a:srgbClr val="C0C0C0"/>
    <a:srgbClr val="96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3921" autoAdjust="0"/>
  </p:normalViewPr>
  <p:slideViewPr>
    <p:cSldViewPr>
      <p:cViewPr varScale="1">
        <p:scale>
          <a:sx n="149" d="100"/>
          <a:sy n="149" d="100"/>
        </p:scale>
        <p:origin x="-1136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53" y="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00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2" tIns="45632" rIns="91262" bIns="45632" numCol="1" anchor="t" anchorCtr="0" compatLnSpc="1">
            <a:prstTxWarp prst="textNoShape">
              <a:avLst/>
            </a:prstTxWarp>
          </a:bodyPr>
          <a:lstStyle>
            <a:lvl1pPr defTabSz="911225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0163" y="0"/>
            <a:ext cx="29400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2" tIns="45632" rIns="91262" bIns="45632" numCol="1" anchor="t" anchorCtr="0" compatLnSpc="1">
            <a:prstTxWarp prst="textNoShape">
              <a:avLst/>
            </a:prstTxWarp>
          </a:bodyPr>
          <a:lstStyle>
            <a:lvl1pPr algn="r" defTabSz="911225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0225"/>
            <a:ext cx="29400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2" tIns="45632" rIns="91262" bIns="45632" numCol="1" anchor="b" anchorCtr="0" compatLnSpc="1">
            <a:prstTxWarp prst="textNoShape">
              <a:avLst/>
            </a:prstTxWarp>
          </a:bodyPr>
          <a:lstStyle>
            <a:lvl1pPr defTabSz="911225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0163" y="9420225"/>
            <a:ext cx="29400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2" tIns="45632" rIns="91262" bIns="45632" numCol="1" anchor="b" anchorCtr="0" compatLnSpc="1">
            <a:prstTxWarp prst="textNoShape">
              <a:avLst/>
            </a:prstTxWarp>
          </a:bodyPr>
          <a:lstStyle>
            <a:lvl1pPr algn="r" defTabSz="911225" eaLnBrk="1" hangingPunct="1">
              <a:defRPr sz="1200"/>
            </a:lvl1pPr>
          </a:lstStyle>
          <a:p>
            <a:fld id="{B0C90F65-DE2E-4749-BFE4-2BCF916D647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00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2" tIns="45632" rIns="91262" bIns="45632" numCol="1" anchor="t" anchorCtr="0" compatLnSpc="1">
            <a:prstTxWarp prst="textNoShape">
              <a:avLst/>
            </a:prstTxWarp>
          </a:bodyPr>
          <a:lstStyle>
            <a:lvl1pPr defTabSz="911225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0163" y="0"/>
            <a:ext cx="29400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2" tIns="45632" rIns="91262" bIns="45632" numCol="1" anchor="t" anchorCtr="0" compatLnSpc="1">
            <a:prstTxWarp prst="textNoShape">
              <a:avLst/>
            </a:prstTxWarp>
          </a:bodyPr>
          <a:lstStyle>
            <a:lvl1pPr algn="r" defTabSz="911225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44538"/>
            <a:ext cx="4957762" cy="3717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1700"/>
            <a:ext cx="542607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2" tIns="45632" rIns="91262" bIns="456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0225"/>
            <a:ext cx="29400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2" tIns="45632" rIns="91262" bIns="45632" numCol="1" anchor="b" anchorCtr="0" compatLnSpc="1">
            <a:prstTxWarp prst="textNoShape">
              <a:avLst/>
            </a:prstTxWarp>
          </a:bodyPr>
          <a:lstStyle>
            <a:lvl1pPr defTabSz="911225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0163" y="9420225"/>
            <a:ext cx="29400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62" tIns="45632" rIns="91262" bIns="45632" numCol="1" anchor="b" anchorCtr="0" compatLnSpc="1">
            <a:prstTxWarp prst="textNoShape">
              <a:avLst/>
            </a:prstTxWarp>
          </a:bodyPr>
          <a:lstStyle>
            <a:lvl1pPr algn="r" defTabSz="911225" eaLnBrk="1" hangingPunct="1">
              <a:defRPr sz="1200"/>
            </a:lvl1pPr>
          </a:lstStyle>
          <a:p>
            <a:fld id="{9CA13270-39D6-524E-A093-C8D613010E8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elvetica Neue Light" charset="0"/>
        <a:ea typeface="ＭＳ Ｐゴシック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elvetica Neue Light" charset="0"/>
        <a:ea typeface="ＭＳ Ｐゴシック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elvetica Neue Light" charset="0"/>
        <a:ea typeface="ＭＳ Ｐゴシック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elvetica Neue Light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A61BB9-F368-B549-8382-CD764FED3137}" type="slidenum">
              <a:rPr lang="en-US"/>
              <a:pPr/>
              <a:t>4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ECDC67-6949-C141-B475-5D9C04817E9D}" type="slidenum">
              <a:rPr lang="en-US"/>
              <a:pPr/>
              <a:t>7</a:t>
            </a:fld>
            <a:endParaRPr lang="en-US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0" y="6248400"/>
            <a:ext cx="9144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5" name="Line 10"/>
          <p:cNvSpPr>
            <a:spLocks noChangeShapeType="1"/>
          </p:cNvSpPr>
          <p:nvPr/>
        </p:nvSpPr>
        <p:spPr bwMode="auto">
          <a:xfrm>
            <a:off x="0" y="3429000"/>
            <a:ext cx="9144000" cy="0"/>
          </a:xfrm>
          <a:prstGeom prst="line">
            <a:avLst/>
          </a:prstGeom>
          <a:noFill/>
          <a:ln w="38100">
            <a:solidFill>
              <a:srgbClr val="FC0A17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6" name="Line 11"/>
          <p:cNvSpPr>
            <a:spLocks noChangeShapeType="1"/>
          </p:cNvSpPr>
          <p:nvPr/>
        </p:nvSpPr>
        <p:spPr bwMode="auto">
          <a:xfrm>
            <a:off x="0" y="3454400"/>
            <a:ext cx="5410200" cy="0"/>
          </a:xfrm>
          <a:prstGeom prst="line">
            <a:avLst/>
          </a:prstGeom>
          <a:noFill/>
          <a:ln w="82550">
            <a:solidFill>
              <a:srgbClr val="FC0A17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pic>
        <p:nvPicPr>
          <p:cNvPr id="7" name="Picture 12" descr="logoNEUklei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153988"/>
            <a:ext cx="594360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28600"/>
            <a:ext cx="2514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6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886200"/>
            <a:ext cx="7772400" cy="1752600"/>
          </a:xfrm>
          <a:solidFill>
            <a:srgbClr val="DDDDDD"/>
          </a:solidFill>
        </p:spPr>
        <p:txBody>
          <a:bodyPr/>
          <a:lstStyle>
            <a:lvl1pPr marL="0" indent="0">
              <a:buFont typeface="Wingdings" charset="2"/>
              <a:buNone/>
              <a:defRPr sz="18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44E2C8-2EBF-3F41-A550-1DC3EA0F6A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0965EC-392D-6044-837B-1F6798C1BF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EE4E76-90D6-B343-8814-7BE226F81F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FA7BAD-DFDE-9D4D-9F27-E529B8B4A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0467E5-AFC0-AE4B-8415-6BB6499BE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BDA9D2-2909-EF47-A860-3AF70D4CB7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3B466E-7B64-9944-BBFA-0782ECBB6A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36CE7F-A536-AA44-8380-BCDC81E41D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8E6118-2C1D-E640-BFA2-5146622262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105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95E475-42C4-FA43-96AF-6A8E932832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3733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5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3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29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  <a:ea typeface="+mn-ea"/>
                <a:cs typeface="+mn-cs"/>
              </a:defRPr>
            </a:lvl1pPr>
          </a:lstStyle>
          <a:p>
            <a:fld id="{97181AEA-B0D4-DC42-8007-71D9F20F34A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 descr="ETH logo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04800" y="152400"/>
            <a:ext cx="18288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5176" name="Line 8"/>
          <p:cNvSpPr>
            <a:spLocks noChangeShapeType="1"/>
          </p:cNvSpPr>
          <p:nvPr/>
        </p:nvSpPr>
        <p:spPr bwMode="auto">
          <a:xfrm>
            <a:off x="0" y="1752600"/>
            <a:ext cx="9144000" cy="0"/>
          </a:xfrm>
          <a:prstGeom prst="line">
            <a:avLst/>
          </a:prstGeom>
          <a:noFill/>
          <a:ln w="38100">
            <a:solidFill>
              <a:srgbClr val="FC0A17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135177" name="Line 9"/>
          <p:cNvSpPr>
            <a:spLocks noChangeShapeType="1"/>
          </p:cNvSpPr>
          <p:nvPr/>
        </p:nvSpPr>
        <p:spPr bwMode="auto">
          <a:xfrm>
            <a:off x="0" y="1778000"/>
            <a:ext cx="5410200" cy="0"/>
          </a:xfrm>
          <a:prstGeom prst="line">
            <a:avLst/>
          </a:prstGeom>
          <a:noFill/>
          <a:ln w="82550">
            <a:solidFill>
              <a:srgbClr val="FC0A17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135178" name="Line 10"/>
          <p:cNvSpPr>
            <a:spLocks noChangeShapeType="1"/>
          </p:cNvSpPr>
          <p:nvPr/>
        </p:nvSpPr>
        <p:spPr bwMode="auto">
          <a:xfrm>
            <a:off x="0" y="6248400"/>
            <a:ext cx="9144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pic>
        <p:nvPicPr>
          <p:cNvPr id="1035" name="Picture 19" descr="logoNEUklein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6019800" y="152400"/>
            <a:ext cx="2914650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ransition/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Hybrid </a:t>
            </a:r>
            <a:r>
              <a:rPr lang="de-DE" dirty="0" err="1" smtClean="0"/>
              <a:t>MPI/OpenMP</a:t>
            </a:r>
            <a:r>
              <a:rPr lang="de-DE" dirty="0" smtClean="0"/>
              <a:t> Parallel </a:t>
            </a:r>
            <a:r>
              <a:rPr lang="de-DE" dirty="0" err="1" smtClean="0"/>
              <a:t>Programming</a:t>
            </a:r>
            <a:endParaRPr lang="de-DE" dirty="0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 smtClean="0"/>
          </a:p>
          <a:p>
            <a:r>
              <a:rPr lang="de-DE" dirty="0" err="1" smtClean="0"/>
              <a:t>Introduction</a:t>
            </a:r>
            <a:r>
              <a:rPr lang="de-DE" dirty="0" smtClean="0"/>
              <a:t> to Parallel </a:t>
            </a:r>
            <a:r>
              <a:rPr lang="de-DE" dirty="0" err="1" smtClean="0"/>
              <a:t>Programming</a:t>
            </a:r>
            <a:endParaRPr lang="de-DE" dirty="0" smtClean="0"/>
          </a:p>
          <a:p>
            <a:r>
              <a:rPr lang="de-DE" dirty="0" smtClean="0"/>
              <a:t>National  </a:t>
            </a:r>
            <a:r>
              <a:rPr lang="de-DE" dirty="0" err="1" smtClean="0"/>
              <a:t>Supercomputing</a:t>
            </a:r>
            <a:r>
              <a:rPr lang="de-DE" dirty="0" smtClean="0"/>
              <a:t> Service, CSCS</a:t>
            </a:r>
          </a:p>
          <a:p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hybrid </a:t>
            </a:r>
            <a:r>
              <a:rPr lang="de-DE" dirty="0" err="1" smtClean="0"/>
              <a:t>programming</a:t>
            </a:r>
            <a:r>
              <a:rPr lang="de-DE" dirty="0" smtClean="0"/>
              <a:t>?</a:t>
            </a:r>
            <a:endParaRPr lang="de-DE" dirty="0" smtClean="0"/>
          </a:p>
          <a:p>
            <a:r>
              <a:rPr lang="de-DE" dirty="0" err="1" smtClean="0"/>
              <a:t>Why</a:t>
            </a:r>
            <a:r>
              <a:rPr lang="de-DE" dirty="0" smtClean="0"/>
              <a:t> </a:t>
            </a:r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it</a:t>
            </a:r>
            <a:r>
              <a:rPr lang="de-DE" dirty="0" smtClean="0"/>
              <a:t>?</a:t>
            </a:r>
          </a:p>
          <a:p>
            <a:r>
              <a:rPr lang="de-DE" dirty="0" err="1" smtClean="0"/>
              <a:t>Strategy</a:t>
            </a:r>
            <a:r>
              <a:rPr lang="de-DE" dirty="0" smtClean="0"/>
              <a:t> and </a:t>
            </a:r>
            <a:r>
              <a:rPr lang="de-DE" dirty="0" err="1" smtClean="0"/>
              <a:t>short</a:t>
            </a:r>
            <a:r>
              <a:rPr lang="de-DE" dirty="0" smtClean="0"/>
              <a:t> </a:t>
            </a:r>
            <a:r>
              <a:rPr lang="de-DE" dirty="0" err="1" smtClean="0"/>
              <a:t>examples</a:t>
            </a:r>
            <a:endParaRPr lang="de-DE" dirty="0" smtClean="0"/>
          </a:p>
          <a:p>
            <a:r>
              <a:rPr lang="de-DE" dirty="0" smtClean="0"/>
              <a:t>Performance </a:t>
            </a:r>
            <a:r>
              <a:rPr lang="de-DE" dirty="0" err="1" smtClean="0"/>
              <a:t>considerations</a:t>
            </a:r>
            <a:endParaRPr lang="de-DE" dirty="0" smtClean="0"/>
          </a:p>
          <a:p>
            <a:r>
              <a:rPr lang="de-DE" dirty="0" err="1" smtClean="0"/>
              <a:t>Questions</a:t>
            </a:r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hybrid </a:t>
            </a:r>
            <a:r>
              <a:rPr lang="de-DE" dirty="0" err="1" smtClean="0"/>
              <a:t>programming</a:t>
            </a:r>
            <a:r>
              <a:rPr lang="de-DE" dirty="0" smtClean="0"/>
              <a:t>?</a:t>
            </a:r>
            <a:endParaRPr lang="de-DE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4191000"/>
          </a:xfrm>
        </p:spPr>
        <p:txBody>
          <a:bodyPr/>
          <a:lstStyle/>
          <a:p>
            <a:r>
              <a:rPr lang="de-DE" dirty="0" smtClean="0"/>
              <a:t>Hybrid </a:t>
            </a:r>
            <a:r>
              <a:rPr lang="de-DE" dirty="0" err="1" smtClean="0"/>
              <a:t>programming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use</a:t>
            </a:r>
            <a:r>
              <a:rPr lang="de-DE" dirty="0" smtClean="0"/>
              <a:t> of different </a:t>
            </a:r>
            <a:r>
              <a:rPr lang="de-DE" dirty="0" err="1" smtClean="0"/>
              <a:t>programming</a:t>
            </a:r>
            <a:r>
              <a:rPr lang="de-DE" dirty="0" smtClean="0"/>
              <a:t> </a:t>
            </a:r>
            <a:r>
              <a:rPr lang="de-DE" dirty="0" err="1" smtClean="0"/>
              <a:t>models</a:t>
            </a:r>
            <a:r>
              <a:rPr lang="de-DE" dirty="0" smtClean="0"/>
              <a:t> to </a:t>
            </a:r>
            <a:r>
              <a:rPr lang="de-DE" dirty="0" err="1" smtClean="0"/>
              <a:t>exploit</a:t>
            </a:r>
            <a:r>
              <a:rPr lang="de-DE" dirty="0" smtClean="0"/>
              <a:t> different </a:t>
            </a:r>
            <a:r>
              <a:rPr lang="de-DE" dirty="0" err="1" smtClean="0"/>
              <a:t>levels</a:t>
            </a:r>
            <a:r>
              <a:rPr lang="de-DE" dirty="0" smtClean="0"/>
              <a:t> of </a:t>
            </a:r>
            <a:r>
              <a:rPr lang="de-DE" dirty="0" err="1" smtClean="0"/>
              <a:t>parallelism</a:t>
            </a:r>
            <a:endParaRPr lang="de-DE" dirty="0" smtClean="0"/>
          </a:p>
          <a:p>
            <a:pPr lvl="1"/>
            <a:r>
              <a:rPr lang="de-DE" dirty="0" err="1" smtClean="0"/>
              <a:t>Increase</a:t>
            </a:r>
            <a:r>
              <a:rPr lang="de-DE" dirty="0" smtClean="0"/>
              <a:t> </a:t>
            </a:r>
            <a:r>
              <a:rPr lang="de-DE" dirty="0" err="1" smtClean="0"/>
              <a:t>scaling</a:t>
            </a:r>
            <a:endParaRPr lang="de-DE" dirty="0" smtClean="0"/>
          </a:p>
          <a:p>
            <a:pPr lvl="1"/>
            <a:r>
              <a:rPr lang="de-DE" dirty="0" err="1" smtClean="0"/>
              <a:t>Address</a:t>
            </a:r>
            <a:r>
              <a:rPr lang="de-DE" dirty="0" smtClean="0"/>
              <a:t> </a:t>
            </a:r>
            <a:r>
              <a:rPr lang="de-DE" dirty="0" err="1" smtClean="0"/>
              <a:t>load</a:t>
            </a:r>
            <a:r>
              <a:rPr lang="de-DE" dirty="0" smtClean="0"/>
              <a:t> </a:t>
            </a:r>
            <a:r>
              <a:rPr lang="de-DE" dirty="0" err="1" smtClean="0"/>
              <a:t>balance</a:t>
            </a:r>
            <a:r>
              <a:rPr lang="de-DE" dirty="0" smtClean="0"/>
              <a:t> </a:t>
            </a:r>
            <a:r>
              <a:rPr lang="de-DE" dirty="0" err="1" smtClean="0"/>
              <a:t>issues</a:t>
            </a:r>
            <a:endParaRPr lang="de-DE" dirty="0" smtClean="0"/>
          </a:p>
          <a:p>
            <a:pPr lvl="1"/>
            <a:r>
              <a:rPr lang="de-DE" dirty="0" err="1" smtClean="0"/>
              <a:t>Decrease</a:t>
            </a:r>
            <a:r>
              <a:rPr lang="de-DE" dirty="0" smtClean="0"/>
              <a:t> </a:t>
            </a:r>
            <a:r>
              <a:rPr lang="de-DE" dirty="0" err="1" smtClean="0"/>
              <a:t>communications</a:t>
            </a:r>
            <a:r>
              <a:rPr lang="de-DE" dirty="0" smtClean="0"/>
              <a:t> </a:t>
            </a:r>
            <a:r>
              <a:rPr lang="de-DE" dirty="0" err="1" smtClean="0"/>
              <a:t>overhead</a:t>
            </a:r>
            <a:endParaRPr lang="de-DE" dirty="0" smtClean="0">
              <a:solidFill>
                <a:schemeClr val="bg2"/>
              </a:solidFill>
            </a:endParaRPr>
          </a:p>
          <a:p>
            <a:pPr lvl="1"/>
            <a:r>
              <a:rPr lang="de-DE" dirty="0" err="1" smtClean="0"/>
              <a:t>Examples</a:t>
            </a:r>
            <a:r>
              <a:rPr lang="de-DE" dirty="0" smtClean="0"/>
              <a:t>:</a:t>
            </a:r>
          </a:p>
          <a:p>
            <a:pPr lvl="2"/>
            <a:r>
              <a:rPr lang="de-DE" dirty="0" smtClean="0"/>
              <a:t>MPI + </a:t>
            </a:r>
            <a:r>
              <a:rPr lang="de-DE" dirty="0" err="1" smtClean="0"/>
              <a:t>OpenMP</a:t>
            </a:r>
            <a:r>
              <a:rPr lang="de-DE" dirty="0" smtClean="0"/>
              <a:t> on </a:t>
            </a:r>
            <a:r>
              <a:rPr lang="de-DE" dirty="0" err="1" smtClean="0"/>
              <a:t>multicore</a:t>
            </a:r>
            <a:r>
              <a:rPr lang="de-DE" dirty="0" smtClean="0"/>
              <a:t> </a:t>
            </a:r>
            <a:r>
              <a:rPr lang="de-DE" dirty="0" err="1" smtClean="0"/>
              <a:t>systems</a:t>
            </a:r>
            <a:endParaRPr lang="de-DE" dirty="0" smtClean="0"/>
          </a:p>
          <a:p>
            <a:pPr lvl="2"/>
            <a:r>
              <a:rPr lang="de-DE" dirty="0" smtClean="0"/>
              <a:t>MPI + </a:t>
            </a:r>
            <a:r>
              <a:rPr lang="de-DE" dirty="0" err="1" smtClean="0"/>
              <a:t>OpenCL</a:t>
            </a:r>
            <a:r>
              <a:rPr lang="de-DE" dirty="0" smtClean="0"/>
              <a:t> on GPU </a:t>
            </a:r>
            <a:r>
              <a:rPr lang="de-DE" dirty="0" err="1" smtClean="0"/>
              <a:t>enabled</a:t>
            </a:r>
            <a:r>
              <a:rPr lang="de-DE" dirty="0" smtClean="0"/>
              <a:t> </a:t>
            </a:r>
            <a:r>
              <a:rPr lang="de-DE" dirty="0" err="1" smtClean="0"/>
              <a:t>systems</a:t>
            </a:r>
            <a:endParaRPr lang="de-DE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1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066800"/>
          </a:xfrm>
        </p:spPr>
        <p:txBody>
          <a:bodyPr/>
          <a:lstStyle/>
          <a:p>
            <a:r>
              <a:rPr lang="de-DE" sz="2800" dirty="0" err="1" smtClean="0"/>
              <a:t>Why</a:t>
            </a:r>
            <a:r>
              <a:rPr lang="de-DE" sz="2800" dirty="0" smtClean="0"/>
              <a:t> </a:t>
            </a:r>
            <a:r>
              <a:rPr lang="de-DE" sz="2800" dirty="0" err="1" smtClean="0"/>
              <a:t>might</a:t>
            </a:r>
            <a:r>
              <a:rPr lang="de-DE" sz="2800" dirty="0" smtClean="0"/>
              <a:t> </a:t>
            </a:r>
            <a:r>
              <a:rPr lang="de-DE" sz="2800" dirty="0" err="1" smtClean="0"/>
              <a:t>you</a:t>
            </a:r>
            <a:r>
              <a:rPr lang="de-DE" sz="2800" dirty="0" smtClean="0"/>
              <a:t> </a:t>
            </a:r>
            <a:r>
              <a:rPr lang="de-DE" sz="2800" dirty="0" err="1" smtClean="0"/>
              <a:t>use</a:t>
            </a:r>
            <a:r>
              <a:rPr lang="de-DE" sz="2800" dirty="0" smtClean="0"/>
              <a:t> </a:t>
            </a:r>
            <a:r>
              <a:rPr lang="de-DE" sz="2800" dirty="0" err="1" smtClean="0"/>
              <a:t>it</a:t>
            </a:r>
            <a:r>
              <a:rPr lang="de-DE" sz="2800" dirty="0" smtClean="0"/>
              <a:t>?</a:t>
            </a:r>
            <a:endParaRPr lang="de-DE" sz="2800" dirty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idx="1"/>
          </p:nvPr>
        </p:nvSpPr>
        <p:spPr>
          <a:xfrm>
            <a:off x="838200" y="2133600"/>
            <a:ext cx="7772400" cy="3962400"/>
          </a:xfrm>
        </p:spPr>
        <p:txBody>
          <a:bodyPr/>
          <a:lstStyle/>
          <a:p>
            <a:r>
              <a:rPr lang="de-DE" dirty="0" err="1" smtClean="0"/>
              <a:t>Reduce</a:t>
            </a:r>
            <a:r>
              <a:rPr lang="de-DE" dirty="0" smtClean="0"/>
              <a:t> time to </a:t>
            </a:r>
            <a:r>
              <a:rPr lang="de-DE" dirty="0" err="1" smtClean="0"/>
              <a:t>solution</a:t>
            </a:r>
            <a:endParaRPr lang="de-DE" dirty="0" smtClean="0"/>
          </a:p>
          <a:p>
            <a:pPr lvl="1"/>
            <a:r>
              <a:rPr lang="de-DE" dirty="0" err="1" smtClean="0"/>
              <a:t>Reduce</a:t>
            </a:r>
            <a:r>
              <a:rPr lang="de-DE" dirty="0" smtClean="0"/>
              <a:t> </a:t>
            </a:r>
            <a:r>
              <a:rPr lang="de-DE" dirty="0" err="1" smtClean="0"/>
              <a:t>number</a:t>
            </a:r>
            <a:r>
              <a:rPr lang="de-DE" dirty="0" smtClean="0"/>
              <a:t> of MPI </a:t>
            </a:r>
            <a:r>
              <a:rPr lang="de-DE" dirty="0" err="1" smtClean="0"/>
              <a:t>messages</a:t>
            </a:r>
            <a:r>
              <a:rPr lang="de-DE" dirty="0" smtClean="0"/>
              <a:t> </a:t>
            </a:r>
            <a:r>
              <a:rPr lang="de-DE" dirty="0" err="1" smtClean="0"/>
              <a:t>passed</a:t>
            </a:r>
            <a:endParaRPr lang="de-DE" dirty="0" smtClean="0"/>
          </a:p>
          <a:p>
            <a:pPr lvl="2"/>
            <a:r>
              <a:rPr lang="de-DE" dirty="0" smtClean="0"/>
              <a:t>Also </a:t>
            </a:r>
            <a:r>
              <a:rPr lang="de-DE" dirty="0" err="1" smtClean="0"/>
              <a:t>reduce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amount</a:t>
            </a:r>
            <a:r>
              <a:rPr lang="de-DE" dirty="0" smtClean="0"/>
              <a:t> of MPI </a:t>
            </a:r>
            <a:r>
              <a:rPr lang="de-DE" dirty="0" err="1" smtClean="0"/>
              <a:t>communication</a:t>
            </a:r>
            <a:r>
              <a:rPr lang="de-DE" dirty="0" smtClean="0"/>
              <a:t> </a:t>
            </a:r>
            <a:r>
              <a:rPr lang="de-DE" dirty="0" err="1" smtClean="0"/>
              <a:t>within</a:t>
            </a:r>
            <a:r>
              <a:rPr lang="de-DE" dirty="0" smtClean="0"/>
              <a:t> a </a:t>
            </a:r>
            <a:r>
              <a:rPr lang="de-DE" dirty="0" err="1" smtClean="0"/>
              <a:t>node</a:t>
            </a:r>
            <a:r>
              <a:rPr lang="de-DE" dirty="0" smtClean="0"/>
              <a:t>.</a:t>
            </a:r>
          </a:p>
          <a:p>
            <a:pPr lvl="2"/>
            <a:r>
              <a:rPr lang="de-DE" dirty="0" smtClean="0"/>
              <a:t>Best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when</a:t>
            </a:r>
            <a:r>
              <a:rPr lang="de-DE" dirty="0" smtClean="0"/>
              <a:t>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are</a:t>
            </a:r>
            <a:r>
              <a:rPr lang="de-DE" dirty="0" smtClean="0"/>
              <a:t> </a:t>
            </a:r>
            <a:r>
              <a:rPr lang="de-DE" dirty="0" err="1" smtClean="0"/>
              <a:t>network-bandwidth</a:t>
            </a:r>
            <a:r>
              <a:rPr lang="de-DE" dirty="0" smtClean="0"/>
              <a:t> </a:t>
            </a:r>
            <a:r>
              <a:rPr lang="de-DE" dirty="0" err="1" smtClean="0"/>
              <a:t>limited</a:t>
            </a:r>
            <a:endParaRPr lang="de-DE" dirty="0" smtClean="0"/>
          </a:p>
          <a:p>
            <a:pPr lvl="1"/>
            <a:r>
              <a:rPr lang="de-DE" dirty="0" err="1" smtClean="0"/>
              <a:t>Number</a:t>
            </a:r>
            <a:r>
              <a:rPr lang="de-DE" dirty="0" smtClean="0"/>
              <a:t> of MPI </a:t>
            </a:r>
            <a:r>
              <a:rPr lang="de-DE" dirty="0" err="1" smtClean="0"/>
              <a:t>tasks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limited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problem</a:t>
            </a:r>
            <a:endParaRPr lang="de-DE" dirty="0" smtClean="0"/>
          </a:p>
          <a:p>
            <a:pPr lvl="1"/>
            <a:r>
              <a:rPr lang="de-DE" dirty="0" err="1" smtClean="0"/>
              <a:t>Unexploited</a:t>
            </a:r>
            <a:r>
              <a:rPr lang="de-DE" dirty="0" smtClean="0"/>
              <a:t> </a:t>
            </a:r>
            <a:r>
              <a:rPr lang="de-DE" dirty="0" err="1" smtClean="0"/>
              <a:t>parallelism</a:t>
            </a:r>
            <a:r>
              <a:rPr lang="de-DE" dirty="0" smtClean="0"/>
              <a:t> </a:t>
            </a:r>
            <a:r>
              <a:rPr lang="de-DE" dirty="0" err="1" smtClean="0"/>
              <a:t>not</a:t>
            </a:r>
            <a:r>
              <a:rPr lang="de-DE" dirty="0" smtClean="0"/>
              <a:t> </a:t>
            </a:r>
            <a:r>
              <a:rPr lang="de-DE" dirty="0" err="1" smtClean="0"/>
              <a:t>easily</a:t>
            </a:r>
            <a:r>
              <a:rPr lang="de-DE" dirty="0" smtClean="0"/>
              <a:t> </a:t>
            </a:r>
            <a:r>
              <a:rPr lang="de-DE" dirty="0" err="1" smtClean="0"/>
              <a:t>handled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your</a:t>
            </a:r>
            <a:r>
              <a:rPr lang="de-DE" dirty="0" smtClean="0"/>
              <a:t> </a:t>
            </a:r>
            <a:r>
              <a:rPr lang="de-DE" dirty="0" err="1" smtClean="0"/>
              <a:t>current</a:t>
            </a:r>
            <a:r>
              <a:rPr lang="de-DE" dirty="0" smtClean="0"/>
              <a:t> MPI </a:t>
            </a:r>
            <a:r>
              <a:rPr lang="de-DE" dirty="0" err="1" smtClean="0"/>
              <a:t>decomposition</a:t>
            </a:r>
            <a:r>
              <a:rPr lang="de-DE" dirty="0" smtClean="0"/>
              <a:t>.		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38200"/>
            <a:ext cx="7772400" cy="7620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Hybrid programming: Best of both worlds?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3886200" cy="37338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MPI</a:t>
            </a:r>
          </a:p>
          <a:p>
            <a:pPr lvl="1"/>
            <a:r>
              <a:rPr lang="en-US" dirty="0" smtClean="0"/>
              <a:t>Explicit parallelism, which is often very efficient.</a:t>
            </a:r>
          </a:p>
          <a:p>
            <a:pPr lvl="1"/>
            <a:r>
              <a:rPr lang="en-US" dirty="0" smtClean="0"/>
              <a:t>Inter-node communication.</a:t>
            </a:r>
          </a:p>
          <a:p>
            <a:pPr lvl="1"/>
            <a:r>
              <a:rPr lang="en-US" dirty="0" smtClean="0"/>
              <a:t>Program state synchronization is explicit</a:t>
            </a:r>
          </a:p>
          <a:p>
            <a:pPr lvl="1"/>
            <a:r>
              <a:rPr lang="en-US" dirty="0" smtClean="0"/>
              <a:t>Optimized collective routines available.</a:t>
            </a:r>
          </a:p>
          <a:p>
            <a:pPr lvl="1"/>
            <a:r>
              <a:rPr lang="en-US" dirty="0" smtClean="0"/>
              <a:t>Usually no problems with data placement.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876800" y="1981200"/>
            <a:ext cx="3886200" cy="3733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charset="2"/>
              <a:buChar char="§"/>
              <a:tabLst/>
              <a:defRPr/>
            </a:pPr>
            <a:r>
              <a:rPr lang="en-US" sz="2800" kern="0" dirty="0" smtClean="0">
                <a:latin typeface="+mn-lt"/>
              </a:rPr>
              <a:t>OpenMP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High performance intra-node threading.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Easy to implement.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Makes better use of shared memory.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 state synchronization is implicit.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Dynamic and run-time scheduling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work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 smtClean="0"/>
              <a:t>Common </a:t>
            </a:r>
            <a:r>
              <a:rPr lang="de-DE" sz="2800" dirty="0" err="1" smtClean="0"/>
              <a:t>Example</a:t>
            </a:r>
            <a:r>
              <a:rPr lang="de-DE" sz="2800" dirty="0" smtClean="0"/>
              <a:t> of a Hybrid  Code</a:t>
            </a:r>
            <a:endParaRPr lang="de-DE" sz="2800" dirty="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762000" y="1905000"/>
            <a:ext cx="8001000" cy="4016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latin typeface="Courier"/>
                <a:cs typeface="Courier"/>
              </a:rPr>
              <a:t> </a:t>
            </a:r>
            <a:r>
              <a:rPr lang="en-US" sz="1800" b="1" dirty="0" smtClean="0">
                <a:latin typeface="Courier"/>
                <a:cs typeface="Courier"/>
              </a:rPr>
              <a:t>PROGRAM </a:t>
            </a:r>
          </a:p>
          <a:p>
            <a:r>
              <a:rPr lang="en-US" sz="1800" dirty="0" smtClean="0"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srgbClr val="0000FF"/>
                </a:solidFill>
                <a:latin typeface="Courier"/>
                <a:cs typeface="Courier"/>
              </a:rPr>
              <a:t>CALL MPI_INIT </a:t>
            </a:r>
            <a:r>
              <a:rPr lang="en-US" sz="1800" dirty="0">
                <a:solidFill>
                  <a:srgbClr val="0000FF"/>
                </a:solidFill>
                <a:latin typeface="Courier"/>
                <a:cs typeface="Courier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ourier"/>
                <a:cs typeface="Courier"/>
              </a:rPr>
              <a:t>ierr</a:t>
            </a:r>
            <a:r>
              <a:rPr lang="en-US" sz="1800" dirty="0">
                <a:solidFill>
                  <a:srgbClr val="0000FF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800" dirty="0" smtClean="0"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srgbClr val="0000FF"/>
                </a:solidFill>
                <a:latin typeface="Courier"/>
                <a:cs typeface="Courier"/>
              </a:rPr>
              <a:t>CALL MPI_COMM_RANK </a:t>
            </a:r>
            <a:r>
              <a:rPr lang="en-US" sz="1800" dirty="0">
                <a:latin typeface="Courier"/>
                <a:cs typeface="Courier"/>
              </a:rPr>
              <a:t>(…)</a:t>
            </a:r>
          </a:p>
          <a:p>
            <a:r>
              <a:rPr lang="en-US" sz="1800" dirty="0" smtClean="0">
                <a:latin typeface="Courier"/>
                <a:cs typeface="Courier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CALL </a:t>
            </a:r>
            <a:r>
              <a:rPr lang="en-US" sz="1800" dirty="0" smtClean="0">
                <a:solidFill>
                  <a:srgbClr val="0000FF"/>
                </a:solidFill>
                <a:latin typeface="Courier"/>
                <a:cs typeface="Courier"/>
              </a:rPr>
              <a:t>MPI_COMM_SIZE </a:t>
            </a:r>
            <a:r>
              <a:rPr lang="en-US" sz="1800" dirty="0">
                <a:latin typeface="Courier"/>
                <a:cs typeface="Courier"/>
              </a:rPr>
              <a:t>(…)</a:t>
            </a:r>
            <a:endParaRPr lang="en-US" sz="1800" dirty="0" smtClean="0">
              <a:solidFill>
                <a:srgbClr val="FF9900"/>
              </a:solidFill>
              <a:latin typeface="Courier"/>
              <a:cs typeface="Courier"/>
            </a:endParaRPr>
          </a:p>
          <a:p>
            <a:r>
              <a:rPr lang="en-US" dirty="0" smtClean="0">
                <a:solidFill>
                  <a:srgbClr val="CA0202"/>
                </a:solidFill>
                <a:latin typeface="Courier"/>
                <a:cs typeface="Courier"/>
              </a:rPr>
              <a:t>!</a:t>
            </a:r>
            <a:r>
              <a:rPr lang="en-US" sz="1800" dirty="0" smtClean="0">
                <a:solidFill>
                  <a:srgbClr val="FF9900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srgbClr val="024E0F"/>
                </a:solidFill>
                <a:latin typeface="Courier"/>
                <a:cs typeface="Courier"/>
              </a:rPr>
              <a:t>…  </a:t>
            </a:r>
            <a:r>
              <a:rPr lang="en-US" sz="1800" dirty="0">
                <a:solidFill>
                  <a:srgbClr val="024E0F"/>
                </a:solidFill>
                <a:latin typeface="Courier"/>
                <a:cs typeface="Courier"/>
              </a:rPr>
              <a:t>some computation and MPI communication</a:t>
            </a:r>
            <a:endParaRPr lang="en-US" sz="1800" dirty="0" smtClean="0">
              <a:solidFill>
                <a:srgbClr val="024E0F"/>
              </a:solidFill>
              <a:latin typeface="Courier"/>
              <a:cs typeface="Courier"/>
            </a:endParaRPr>
          </a:p>
          <a:p>
            <a:r>
              <a:rPr lang="en-US" sz="1800" dirty="0" smtClean="0">
                <a:solidFill>
                  <a:srgbClr val="CA0202"/>
                </a:solidFill>
                <a:latin typeface="Courier"/>
                <a:cs typeface="Courier"/>
              </a:rPr>
              <a:t>!</a:t>
            </a:r>
            <a:r>
              <a:rPr lang="en-US" sz="1800" dirty="0">
                <a:solidFill>
                  <a:srgbClr val="CA0202"/>
                </a:solidFill>
                <a:latin typeface="Courier"/>
                <a:cs typeface="Courier"/>
              </a:rPr>
              <a:t>$OMP PARALLEL DO</a:t>
            </a:r>
            <a:r>
              <a:rPr lang="en-US" sz="1800" dirty="0" smtClean="0">
                <a:solidFill>
                  <a:srgbClr val="CA0202"/>
                </a:solidFill>
                <a:latin typeface="Courier"/>
                <a:cs typeface="Courier"/>
              </a:rPr>
              <a:t> </a:t>
            </a:r>
          </a:p>
          <a:p>
            <a:r>
              <a:rPr lang="en-US" dirty="0" smtClean="0">
                <a:solidFill>
                  <a:srgbClr val="CA0202"/>
                </a:solidFill>
                <a:latin typeface="Courier"/>
                <a:cs typeface="Courier"/>
              </a:rPr>
              <a:t>  	</a:t>
            </a:r>
            <a:r>
              <a:rPr lang="en-US" sz="1800" dirty="0" smtClean="0">
                <a:latin typeface="Courier"/>
                <a:cs typeface="Courier"/>
              </a:rPr>
              <a:t>DO I = 1, N</a:t>
            </a:r>
          </a:p>
          <a:p>
            <a:r>
              <a:rPr lang="en-US" sz="1800" dirty="0">
                <a:latin typeface="Courier"/>
                <a:cs typeface="Courier"/>
              </a:rPr>
              <a:t> </a:t>
            </a:r>
            <a:r>
              <a:rPr lang="en-US" sz="1800" dirty="0" smtClean="0">
                <a:latin typeface="Courier"/>
                <a:cs typeface="Courier"/>
              </a:rPr>
              <a:t> </a:t>
            </a:r>
            <a:r>
              <a:rPr lang="en-US" dirty="0" smtClean="0">
                <a:latin typeface="Courier"/>
                <a:cs typeface="Courier"/>
              </a:rPr>
              <a:t>		CALL Physics()</a:t>
            </a:r>
            <a:endParaRPr lang="en-US" sz="1800" dirty="0" smtClean="0">
              <a:latin typeface="Courier"/>
              <a:cs typeface="Courier"/>
            </a:endParaRPr>
          </a:p>
          <a:p>
            <a:r>
              <a:rPr lang="en-US" sz="1800" dirty="0" smtClean="0">
                <a:latin typeface="Courier"/>
                <a:cs typeface="Courier"/>
              </a:rPr>
              <a:t> 	 </a:t>
            </a:r>
            <a:r>
              <a:rPr lang="en-US" dirty="0" smtClean="0">
                <a:latin typeface="Courier"/>
                <a:cs typeface="Courier"/>
              </a:rPr>
              <a:t>END DO</a:t>
            </a:r>
            <a:endParaRPr lang="en-US" sz="1800" dirty="0" smtClean="0">
              <a:latin typeface="Courier"/>
              <a:cs typeface="Courier"/>
            </a:endParaRPr>
          </a:p>
          <a:p>
            <a:r>
              <a:rPr lang="en-US" sz="1800" dirty="0" smtClean="0">
                <a:solidFill>
                  <a:srgbClr val="CA0202"/>
                </a:solidFill>
                <a:latin typeface="Courier"/>
                <a:cs typeface="Courier"/>
              </a:rPr>
              <a:t>!</a:t>
            </a:r>
            <a:r>
              <a:rPr lang="en-US" sz="1800" dirty="0">
                <a:solidFill>
                  <a:srgbClr val="CA0202"/>
                </a:solidFill>
                <a:latin typeface="Courier"/>
                <a:cs typeface="Courier"/>
              </a:rPr>
              <a:t>$OMP END PARALLEL DO </a:t>
            </a:r>
            <a:endParaRPr lang="en-US" sz="1800" dirty="0" smtClean="0">
              <a:solidFill>
                <a:srgbClr val="CA0202"/>
              </a:solidFill>
              <a:latin typeface="Courier"/>
              <a:cs typeface="Courier"/>
            </a:endParaRPr>
          </a:p>
          <a:p>
            <a:r>
              <a:rPr lang="en-US" sz="1800" dirty="0" smtClean="0">
                <a:solidFill>
                  <a:srgbClr val="CA0202"/>
                </a:solidFill>
                <a:latin typeface="Courier"/>
                <a:cs typeface="Courier"/>
              </a:rPr>
              <a:t>!</a:t>
            </a:r>
            <a:r>
              <a:rPr lang="en-US" sz="1800" dirty="0" smtClean="0">
                <a:solidFill>
                  <a:srgbClr val="024E0F"/>
                </a:solidFill>
                <a:latin typeface="Courier"/>
                <a:cs typeface="Courier"/>
              </a:rPr>
              <a:t>…  </a:t>
            </a:r>
            <a:r>
              <a:rPr lang="en-US" sz="1800" dirty="0">
                <a:solidFill>
                  <a:srgbClr val="024E0F"/>
                </a:solidFill>
                <a:latin typeface="Courier"/>
                <a:cs typeface="Courier"/>
              </a:rPr>
              <a:t>some computation and MPI communication</a:t>
            </a:r>
          </a:p>
          <a:p>
            <a:r>
              <a:rPr lang="en-US" sz="1800" dirty="0" smtClean="0">
                <a:latin typeface="Courier"/>
                <a:cs typeface="Courier"/>
              </a:rPr>
              <a:t> </a:t>
            </a:r>
            <a:r>
              <a:rPr lang="en-US" dirty="0" smtClean="0">
                <a:latin typeface="Courier"/>
                <a:cs typeface="Courier"/>
              </a:rPr>
              <a:t>CALL </a:t>
            </a:r>
            <a:r>
              <a:rPr lang="en-US" sz="1800" dirty="0" smtClean="0">
                <a:solidFill>
                  <a:srgbClr val="0000FF"/>
                </a:solidFill>
                <a:latin typeface="Courier"/>
                <a:cs typeface="Courier"/>
              </a:rPr>
              <a:t>MPI_FINALIZE </a:t>
            </a:r>
            <a:r>
              <a:rPr lang="en-US" sz="1800" dirty="0">
                <a:solidFill>
                  <a:srgbClr val="0000FF"/>
                </a:solidFill>
                <a:latin typeface="Courier"/>
                <a:cs typeface="Courier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ourier"/>
                <a:cs typeface="Courier"/>
              </a:rPr>
              <a:t>ierr</a:t>
            </a:r>
            <a:r>
              <a:rPr lang="en-US" sz="1800" dirty="0">
                <a:solidFill>
                  <a:srgbClr val="0000FF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800" dirty="0">
                <a:latin typeface="Courier"/>
                <a:cs typeface="Courier"/>
              </a:rPr>
              <a:t> </a:t>
            </a:r>
            <a:r>
              <a:rPr lang="en-US" sz="1800" b="1" dirty="0">
                <a:latin typeface="Courier"/>
                <a:cs typeface="Courier"/>
              </a:rPr>
              <a:t>end</a:t>
            </a:r>
          </a:p>
          <a:p>
            <a:pPr>
              <a:lnSpc>
                <a:spcPct val="80000"/>
              </a:lnSpc>
            </a:pPr>
            <a:endParaRPr lang="en-US" sz="1800" b="1" dirty="0">
              <a:latin typeface="Tahoma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066800"/>
          </a:xfrm>
        </p:spPr>
        <p:txBody>
          <a:bodyPr/>
          <a:lstStyle/>
          <a:p>
            <a:r>
              <a:rPr lang="de-DE" sz="2800" dirty="0" smtClean="0"/>
              <a:t>A Hybrid </a:t>
            </a:r>
            <a:r>
              <a:rPr lang="de-DE" sz="2800" dirty="0" err="1" smtClean="0"/>
              <a:t>Parallelization</a:t>
            </a:r>
            <a:r>
              <a:rPr lang="de-DE" sz="2800" dirty="0" smtClean="0"/>
              <a:t> </a:t>
            </a:r>
            <a:r>
              <a:rPr lang="de-DE" sz="2800" dirty="0" err="1" smtClean="0"/>
              <a:t>Strategy</a:t>
            </a:r>
            <a:endParaRPr lang="de-DE" sz="2800" dirty="0"/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133600"/>
            <a:ext cx="7772400" cy="4038600"/>
          </a:xfrm>
        </p:spPr>
        <p:txBody>
          <a:bodyPr/>
          <a:lstStyle/>
          <a:p>
            <a:r>
              <a:rPr lang="de-DE" dirty="0" err="1" smtClean="0"/>
              <a:t>Decompose</a:t>
            </a:r>
            <a:r>
              <a:rPr lang="de-DE" dirty="0" smtClean="0"/>
              <a:t> at a high </a:t>
            </a:r>
            <a:r>
              <a:rPr lang="de-DE" dirty="0" err="1" smtClean="0"/>
              <a:t>level</a:t>
            </a:r>
            <a:r>
              <a:rPr lang="de-DE" dirty="0" smtClean="0"/>
              <a:t> </a:t>
            </a:r>
            <a:r>
              <a:rPr lang="de-DE" dirty="0" err="1" smtClean="0"/>
              <a:t>using</a:t>
            </a:r>
            <a:r>
              <a:rPr lang="de-DE" dirty="0" smtClean="0"/>
              <a:t> MPI</a:t>
            </a:r>
          </a:p>
          <a:p>
            <a:r>
              <a:rPr lang="de-DE" dirty="0" err="1" smtClean="0"/>
              <a:t>Add</a:t>
            </a:r>
            <a:r>
              <a:rPr lang="de-DE" dirty="0" smtClean="0"/>
              <a:t> </a:t>
            </a:r>
            <a:r>
              <a:rPr lang="de-DE" dirty="0" err="1" smtClean="0"/>
              <a:t>OpenMP</a:t>
            </a:r>
            <a:r>
              <a:rPr lang="de-DE" dirty="0" smtClean="0"/>
              <a:t> to </a:t>
            </a:r>
            <a:r>
              <a:rPr lang="de-DE" dirty="0" err="1" smtClean="0"/>
              <a:t>exploit</a:t>
            </a:r>
            <a:r>
              <a:rPr lang="de-DE" dirty="0" smtClean="0"/>
              <a:t> </a:t>
            </a:r>
            <a:r>
              <a:rPr lang="de-DE" dirty="0" err="1" smtClean="0"/>
              <a:t>loop-level</a:t>
            </a:r>
            <a:r>
              <a:rPr lang="de-DE" dirty="0" smtClean="0"/>
              <a:t> </a:t>
            </a:r>
            <a:r>
              <a:rPr lang="de-DE" dirty="0" err="1" smtClean="0"/>
              <a:t>and/or</a:t>
            </a:r>
            <a:r>
              <a:rPr lang="de-DE" dirty="0" smtClean="0"/>
              <a:t> </a:t>
            </a:r>
            <a:r>
              <a:rPr lang="de-DE" dirty="0" err="1" smtClean="0"/>
              <a:t>task-level</a:t>
            </a:r>
            <a:r>
              <a:rPr lang="de-DE" dirty="0" smtClean="0"/>
              <a:t> </a:t>
            </a:r>
            <a:r>
              <a:rPr lang="de-DE" dirty="0" err="1" smtClean="0"/>
              <a:t>parallelism</a:t>
            </a:r>
            <a:endParaRPr lang="de-DE" dirty="0" smtClean="0"/>
          </a:p>
          <a:p>
            <a:r>
              <a:rPr lang="de-DE" dirty="0" err="1" smtClean="0"/>
              <a:t>Use</a:t>
            </a:r>
            <a:r>
              <a:rPr lang="de-DE" dirty="0" smtClean="0"/>
              <a:t> MPI </a:t>
            </a:r>
            <a:r>
              <a:rPr lang="de-DE" dirty="0" err="1" smtClean="0"/>
              <a:t>outside</a:t>
            </a:r>
            <a:r>
              <a:rPr lang="de-DE" dirty="0" smtClean="0"/>
              <a:t> of </a:t>
            </a:r>
            <a:r>
              <a:rPr lang="de-DE" dirty="0" err="1" smtClean="0"/>
              <a:t>OpenMP</a:t>
            </a:r>
            <a:r>
              <a:rPr lang="de-DE" dirty="0" smtClean="0"/>
              <a:t> parallel </a:t>
            </a:r>
            <a:r>
              <a:rPr lang="de-DE" dirty="0" err="1" smtClean="0"/>
              <a:t>regions</a:t>
            </a:r>
            <a:endParaRPr lang="de-DE" dirty="0" smtClean="0"/>
          </a:p>
          <a:p>
            <a:pPr lvl="1"/>
            <a:r>
              <a:rPr lang="de-DE" dirty="0" err="1" smtClean="0"/>
              <a:t>Only</a:t>
            </a:r>
            <a:r>
              <a:rPr lang="de-DE" dirty="0" smtClean="0"/>
              <a:t> </a:t>
            </a:r>
            <a:r>
              <a:rPr lang="de-DE" dirty="0" err="1" smtClean="0"/>
              <a:t>master</a:t>
            </a:r>
            <a:r>
              <a:rPr lang="de-DE" dirty="0" smtClean="0"/>
              <a:t> </a:t>
            </a:r>
            <a:r>
              <a:rPr lang="de-DE" dirty="0" err="1" smtClean="0"/>
              <a:t>thread</a:t>
            </a:r>
            <a:r>
              <a:rPr lang="de-DE" dirty="0" smtClean="0"/>
              <a:t> </a:t>
            </a:r>
            <a:r>
              <a:rPr lang="de-DE" dirty="0" err="1" smtClean="0"/>
              <a:t>performs</a:t>
            </a:r>
            <a:r>
              <a:rPr lang="de-DE" dirty="0" smtClean="0"/>
              <a:t> MPI </a:t>
            </a:r>
            <a:r>
              <a:rPr lang="de-DE" dirty="0" err="1" smtClean="0"/>
              <a:t>comms</a:t>
            </a:r>
            <a:r>
              <a:rPr lang="de-DE" dirty="0" smtClean="0"/>
              <a:t>.</a:t>
            </a:r>
          </a:p>
          <a:p>
            <a:r>
              <a:rPr lang="de-DE" dirty="0" err="1" smtClean="0"/>
              <a:t>Could</a:t>
            </a:r>
            <a:r>
              <a:rPr lang="de-DE" dirty="0" smtClean="0"/>
              <a:t> </a:t>
            </a:r>
            <a:r>
              <a:rPr lang="de-DE" dirty="0" err="1" smtClean="0"/>
              <a:t>use</a:t>
            </a:r>
            <a:r>
              <a:rPr lang="de-DE" dirty="0" smtClean="0"/>
              <a:t> MPI </a:t>
            </a:r>
            <a:r>
              <a:rPr lang="de-DE" dirty="0" err="1" smtClean="0"/>
              <a:t>within</a:t>
            </a:r>
            <a:r>
              <a:rPr lang="de-DE" dirty="0" smtClean="0"/>
              <a:t> a parallel </a:t>
            </a:r>
            <a:r>
              <a:rPr lang="de-DE" dirty="0" err="1" smtClean="0"/>
              <a:t>region</a:t>
            </a:r>
            <a:endParaRPr lang="de-DE" dirty="0" smtClean="0"/>
          </a:p>
          <a:p>
            <a:pPr lvl="1"/>
            <a:endParaRPr lang="de-D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MPI in threaded regions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‘Normally/</a:t>
            </a:r>
            <a:r>
              <a:rPr lang="en-US" dirty="0" err="1" smtClean="0"/>
              <a:t>classicaly</a:t>
            </a:r>
            <a:r>
              <a:rPr lang="en-US" dirty="0" smtClean="0"/>
              <a:t>’, MPI calls are not placed within parallel regions. 	</a:t>
            </a:r>
          </a:p>
          <a:p>
            <a:pPr lvl="1"/>
            <a:r>
              <a:rPr lang="en-US" dirty="0" smtClean="0"/>
              <a:t>This is because MPI-1 was not </a:t>
            </a:r>
            <a:r>
              <a:rPr lang="en-US" i="1" dirty="0" smtClean="0"/>
              <a:t>thread safe</a:t>
            </a:r>
            <a:r>
              <a:rPr lang="en-US" dirty="0" smtClean="0"/>
              <a:t>.</a:t>
            </a:r>
          </a:p>
          <a:p>
            <a:r>
              <a:rPr lang="en-US" dirty="0" smtClean="0"/>
              <a:t>However, this creates load imbalance</a:t>
            </a:r>
          </a:p>
          <a:p>
            <a:pPr lvl="1"/>
            <a:r>
              <a:rPr lang="en-US" dirty="0" smtClean="0"/>
              <a:t>1 core does communication</a:t>
            </a:r>
          </a:p>
          <a:p>
            <a:pPr lvl="1"/>
            <a:r>
              <a:rPr lang="en-US" dirty="0" smtClean="0"/>
              <a:t>N-1 cores are idle</a:t>
            </a:r>
          </a:p>
          <a:p>
            <a:r>
              <a:rPr lang="en-US" u="sng" dirty="0" smtClean="0"/>
              <a:t>Possible to use </a:t>
            </a:r>
            <a:r>
              <a:rPr lang="en-US" i="1" u="sng" dirty="0" smtClean="0"/>
              <a:t>thread-safe </a:t>
            </a:r>
            <a:r>
              <a:rPr lang="en-US" u="sng" dirty="0" smtClean="0"/>
              <a:t>MPI to, perhaps, overlap communication and computation</a:t>
            </a:r>
            <a:endParaRPr lang="en-US" u="sn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(master calls MPI)</a:t>
            </a:r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981200" y="1798051"/>
            <a:ext cx="5638800" cy="503214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 smtClean="0">
                <a:latin typeface="Courier"/>
                <a:cs typeface="Courier"/>
              </a:rPr>
              <a:t>!</a:t>
            </a:r>
            <a:r>
              <a:rPr lang="en-US" sz="1800" dirty="0">
                <a:latin typeface="Courier"/>
                <a:cs typeface="Courier"/>
              </a:rPr>
              <a:t>$OMP </a:t>
            </a:r>
            <a:r>
              <a:rPr lang="en-US" sz="1800" dirty="0" smtClean="0">
                <a:latin typeface="Courier"/>
                <a:cs typeface="Courier"/>
              </a:rPr>
              <a:t>PARALLEL</a:t>
            </a:r>
          </a:p>
          <a:p>
            <a:r>
              <a:rPr lang="en-US" sz="1800" dirty="0" smtClean="0">
                <a:latin typeface="Courier"/>
                <a:cs typeface="Courier"/>
              </a:rPr>
              <a:t>	!$OMP DO</a:t>
            </a:r>
          </a:p>
          <a:p>
            <a:r>
              <a:rPr lang="en-US" dirty="0" smtClean="0">
                <a:latin typeface="Courier"/>
                <a:cs typeface="Courier"/>
              </a:rPr>
              <a:t>  	</a:t>
            </a:r>
            <a:r>
              <a:rPr lang="en-US" sz="1800" dirty="0" smtClean="0">
                <a:latin typeface="Courier"/>
                <a:cs typeface="Courier"/>
              </a:rPr>
              <a:t>DO I = 1, N</a:t>
            </a:r>
          </a:p>
          <a:p>
            <a:r>
              <a:rPr lang="en-US" sz="1800" dirty="0">
                <a:latin typeface="Courier"/>
                <a:cs typeface="Courier"/>
              </a:rPr>
              <a:t> </a:t>
            </a:r>
            <a:r>
              <a:rPr lang="en-US" sz="1800" dirty="0" smtClean="0">
                <a:latin typeface="Courier"/>
                <a:cs typeface="Courier"/>
              </a:rPr>
              <a:t> </a:t>
            </a:r>
            <a:r>
              <a:rPr lang="en-US" dirty="0" smtClean="0">
                <a:latin typeface="Courier"/>
                <a:cs typeface="Courier"/>
              </a:rPr>
              <a:t>		CALL Physics()</a:t>
            </a:r>
            <a:endParaRPr lang="en-US" sz="1800" dirty="0" smtClean="0">
              <a:latin typeface="Courier"/>
              <a:cs typeface="Courier"/>
            </a:endParaRPr>
          </a:p>
          <a:p>
            <a:r>
              <a:rPr lang="en-US" sz="1800" dirty="0" smtClean="0">
                <a:latin typeface="Courier"/>
                <a:cs typeface="Courier"/>
              </a:rPr>
              <a:t> 	</a:t>
            </a:r>
            <a:r>
              <a:rPr lang="en-US" dirty="0" smtClean="0">
                <a:latin typeface="Courier"/>
                <a:cs typeface="Courier"/>
              </a:rPr>
              <a:t>END DO</a:t>
            </a:r>
          </a:p>
          <a:p>
            <a:r>
              <a:rPr lang="en-US" dirty="0" smtClean="0">
                <a:latin typeface="Courier"/>
                <a:cs typeface="Courier"/>
              </a:rPr>
              <a:t>	!OMP END DO</a:t>
            </a:r>
          </a:p>
          <a:p>
            <a:r>
              <a:rPr lang="en-US" dirty="0" smtClean="0">
                <a:latin typeface="Courier"/>
                <a:cs typeface="Courier"/>
              </a:rPr>
              <a:t>!master thread does MPI </a:t>
            </a:r>
          </a:p>
          <a:p>
            <a:r>
              <a:rPr lang="en-US" dirty="0" smtClean="0">
                <a:latin typeface="Courier"/>
                <a:cs typeface="Courier"/>
              </a:rPr>
              <a:t>	!$OMP BARRIER</a:t>
            </a:r>
          </a:p>
          <a:p>
            <a:r>
              <a:rPr lang="en-US" dirty="0" smtClean="0">
                <a:latin typeface="Courier"/>
                <a:cs typeface="Courier"/>
              </a:rPr>
              <a:t>	!$OMP MASTER</a:t>
            </a:r>
          </a:p>
          <a:p>
            <a:r>
              <a:rPr lang="en-US" dirty="0" smtClean="0">
                <a:latin typeface="Courier"/>
                <a:cs typeface="Courier"/>
              </a:rPr>
              <a:t>	CALL MPI_IRECV()</a:t>
            </a:r>
          </a:p>
          <a:p>
            <a:r>
              <a:rPr lang="en-US" sz="1800" dirty="0" smtClean="0">
                <a:latin typeface="Courier"/>
                <a:cs typeface="Courier"/>
              </a:rPr>
              <a:t>	CALL MPI_SEND()</a:t>
            </a:r>
          </a:p>
          <a:p>
            <a:r>
              <a:rPr lang="en-US" dirty="0" smtClean="0">
                <a:latin typeface="Courier"/>
                <a:cs typeface="Courier"/>
              </a:rPr>
              <a:t>	!$OMP END MASTER</a:t>
            </a:r>
          </a:p>
          <a:p>
            <a:r>
              <a:rPr lang="en-US" dirty="0" smtClean="0">
                <a:latin typeface="Courier"/>
                <a:cs typeface="Courier"/>
              </a:rPr>
              <a:t>	!$OMP BARRIER</a:t>
            </a:r>
          </a:p>
          <a:p>
            <a:r>
              <a:rPr lang="en-US" dirty="0" smtClean="0">
                <a:latin typeface="Courier"/>
                <a:cs typeface="Courier"/>
              </a:rPr>
              <a:t>! need barrier  since no implicit</a:t>
            </a:r>
          </a:p>
          <a:p>
            <a:r>
              <a:rPr lang="en-US" dirty="0" smtClean="0">
                <a:latin typeface="Courier"/>
                <a:cs typeface="Courier"/>
              </a:rPr>
              <a:t>! barrier for master directive</a:t>
            </a:r>
          </a:p>
          <a:p>
            <a:endParaRPr lang="en-US" sz="1800" dirty="0" smtClean="0">
              <a:latin typeface="Courier"/>
              <a:cs typeface="Courier"/>
            </a:endParaRPr>
          </a:p>
          <a:p>
            <a:r>
              <a:rPr lang="en-US" sz="1800" dirty="0" smtClean="0">
                <a:latin typeface="Courier"/>
                <a:cs typeface="Courier"/>
              </a:rPr>
              <a:t>!</a:t>
            </a:r>
            <a:r>
              <a:rPr lang="en-US" sz="1800" dirty="0">
                <a:latin typeface="Courier"/>
                <a:cs typeface="Courier"/>
              </a:rPr>
              <a:t>$OMP END PARALLEL DO </a:t>
            </a:r>
            <a:endParaRPr lang="en-US" sz="1800" dirty="0" smtClean="0">
              <a:latin typeface="Courier"/>
              <a:cs typeface="Courier"/>
            </a:endParaRPr>
          </a:p>
          <a:p>
            <a:pPr>
              <a:lnSpc>
                <a:spcPct val="80000"/>
              </a:lnSpc>
            </a:pPr>
            <a:endParaRPr lang="en-US" sz="1800" b="1" dirty="0">
              <a:latin typeface="Tahoma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(single calls MPI)</a:t>
            </a:r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981200" y="1798051"/>
            <a:ext cx="5638800" cy="475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 smtClean="0">
                <a:latin typeface="Courier"/>
                <a:cs typeface="Courier"/>
              </a:rPr>
              <a:t>!</a:t>
            </a:r>
            <a:r>
              <a:rPr lang="en-US" sz="1800" dirty="0">
                <a:latin typeface="Courier"/>
                <a:cs typeface="Courier"/>
              </a:rPr>
              <a:t>$OMP </a:t>
            </a:r>
            <a:r>
              <a:rPr lang="en-US" sz="1800" dirty="0" smtClean="0">
                <a:latin typeface="Courier"/>
                <a:cs typeface="Courier"/>
              </a:rPr>
              <a:t>PARALLEL</a:t>
            </a:r>
          </a:p>
          <a:p>
            <a:r>
              <a:rPr lang="en-US" sz="1800" dirty="0" smtClean="0">
                <a:latin typeface="Courier"/>
                <a:cs typeface="Courier"/>
              </a:rPr>
              <a:t>	!$OMP DO</a:t>
            </a:r>
          </a:p>
          <a:p>
            <a:r>
              <a:rPr lang="en-US" dirty="0" smtClean="0">
                <a:latin typeface="Courier"/>
                <a:cs typeface="Courier"/>
              </a:rPr>
              <a:t>  	</a:t>
            </a:r>
            <a:r>
              <a:rPr lang="en-US" sz="1800" dirty="0" smtClean="0">
                <a:latin typeface="Courier"/>
                <a:cs typeface="Courier"/>
              </a:rPr>
              <a:t>DO I = 1, N</a:t>
            </a:r>
          </a:p>
          <a:p>
            <a:r>
              <a:rPr lang="en-US" sz="1800" dirty="0">
                <a:latin typeface="Courier"/>
                <a:cs typeface="Courier"/>
              </a:rPr>
              <a:t> </a:t>
            </a:r>
            <a:r>
              <a:rPr lang="en-US" sz="1800" dirty="0" smtClean="0">
                <a:latin typeface="Courier"/>
                <a:cs typeface="Courier"/>
              </a:rPr>
              <a:t> </a:t>
            </a:r>
            <a:r>
              <a:rPr lang="en-US" dirty="0" smtClean="0">
                <a:latin typeface="Courier"/>
                <a:cs typeface="Courier"/>
              </a:rPr>
              <a:t>		CALL Physics()</a:t>
            </a:r>
            <a:endParaRPr lang="en-US" sz="1800" dirty="0" smtClean="0">
              <a:latin typeface="Courier"/>
              <a:cs typeface="Courier"/>
            </a:endParaRPr>
          </a:p>
          <a:p>
            <a:r>
              <a:rPr lang="en-US" sz="1800" dirty="0" smtClean="0">
                <a:latin typeface="Courier"/>
                <a:cs typeface="Courier"/>
              </a:rPr>
              <a:t> 	</a:t>
            </a:r>
            <a:r>
              <a:rPr lang="en-US" dirty="0" smtClean="0">
                <a:latin typeface="Courier"/>
                <a:cs typeface="Courier"/>
              </a:rPr>
              <a:t>END DO</a:t>
            </a:r>
          </a:p>
          <a:p>
            <a:r>
              <a:rPr lang="en-US" dirty="0" smtClean="0">
                <a:latin typeface="Courier"/>
                <a:cs typeface="Courier"/>
              </a:rPr>
              <a:t>	!OMP END DO</a:t>
            </a:r>
          </a:p>
          <a:p>
            <a:r>
              <a:rPr lang="en-US" dirty="0" smtClean="0">
                <a:latin typeface="Courier"/>
                <a:cs typeface="Courier"/>
              </a:rPr>
              <a:t>!any individual thread does MPI</a:t>
            </a:r>
          </a:p>
          <a:p>
            <a:r>
              <a:rPr lang="en-US" dirty="0" smtClean="0">
                <a:latin typeface="Courier"/>
                <a:cs typeface="Courier"/>
              </a:rPr>
              <a:t>	!$OMP BARRIER</a:t>
            </a:r>
          </a:p>
          <a:p>
            <a:r>
              <a:rPr lang="en-US" dirty="0" smtClean="0">
                <a:latin typeface="Courier"/>
                <a:cs typeface="Courier"/>
              </a:rPr>
              <a:t>	!$OMP SINGLE</a:t>
            </a:r>
          </a:p>
          <a:p>
            <a:r>
              <a:rPr lang="en-US" dirty="0" smtClean="0">
                <a:latin typeface="Courier"/>
                <a:cs typeface="Courier"/>
              </a:rPr>
              <a:t>	CALL MPI_IRECV()</a:t>
            </a:r>
          </a:p>
          <a:p>
            <a:r>
              <a:rPr lang="en-US" sz="1800" dirty="0" smtClean="0">
                <a:latin typeface="Courier"/>
                <a:cs typeface="Courier"/>
              </a:rPr>
              <a:t>	CALL MPI_SEND()</a:t>
            </a:r>
          </a:p>
          <a:p>
            <a:r>
              <a:rPr lang="en-US" dirty="0" smtClean="0">
                <a:latin typeface="Courier"/>
                <a:cs typeface="Courier"/>
              </a:rPr>
              <a:t>	!$OMP END SINGLE</a:t>
            </a:r>
          </a:p>
          <a:p>
            <a:r>
              <a:rPr lang="en-US" dirty="0" smtClean="0">
                <a:latin typeface="Courier"/>
                <a:cs typeface="Courier"/>
              </a:rPr>
              <a:t>! No need for barrier  since implicit</a:t>
            </a:r>
          </a:p>
          <a:p>
            <a:r>
              <a:rPr lang="en-US" dirty="0" smtClean="0">
                <a:latin typeface="Courier"/>
                <a:cs typeface="Courier"/>
              </a:rPr>
              <a:t>! barrier for single directive</a:t>
            </a:r>
          </a:p>
          <a:p>
            <a:endParaRPr lang="en-US" sz="1800" dirty="0" smtClean="0">
              <a:latin typeface="Courier"/>
              <a:cs typeface="Courier"/>
            </a:endParaRPr>
          </a:p>
          <a:p>
            <a:r>
              <a:rPr lang="en-US" sz="1800" dirty="0" smtClean="0">
                <a:latin typeface="Courier"/>
                <a:cs typeface="Courier"/>
              </a:rPr>
              <a:t>!</a:t>
            </a:r>
            <a:r>
              <a:rPr lang="en-US" sz="1800" dirty="0">
                <a:latin typeface="Courier"/>
                <a:cs typeface="Courier"/>
              </a:rPr>
              <a:t>$OMP END PARALLEL DO </a:t>
            </a:r>
            <a:endParaRPr lang="en-US" sz="1800" dirty="0" smtClean="0">
              <a:latin typeface="Courier"/>
              <a:cs typeface="Courier"/>
            </a:endParaRPr>
          </a:p>
          <a:p>
            <a:pPr>
              <a:lnSpc>
                <a:spcPct val="80000"/>
              </a:lnSpc>
            </a:pPr>
            <a:endParaRPr lang="en-US" sz="1800" b="1" dirty="0">
              <a:latin typeface="Tahoma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	 (DIY)</a:t>
            </a:r>
            <a:endParaRPr lang="en-US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981200" y="1905000"/>
            <a:ext cx="56388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 smtClean="0">
                <a:latin typeface="Courier"/>
                <a:cs typeface="Courier"/>
              </a:rPr>
              <a:t>!</a:t>
            </a:r>
            <a:r>
              <a:rPr lang="en-US" sz="1800" dirty="0">
                <a:latin typeface="Courier"/>
                <a:cs typeface="Courier"/>
              </a:rPr>
              <a:t>$OMP </a:t>
            </a:r>
            <a:r>
              <a:rPr lang="en-US" sz="1800" dirty="0" smtClean="0">
                <a:latin typeface="Courier"/>
                <a:cs typeface="Courier"/>
              </a:rPr>
              <a:t>PARALLEL</a:t>
            </a:r>
          </a:p>
          <a:p>
            <a:r>
              <a:rPr lang="en-US" dirty="0" smtClean="0">
                <a:latin typeface="Courier"/>
                <a:cs typeface="Courier"/>
              </a:rPr>
              <a:t>	</a:t>
            </a:r>
            <a:r>
              <a:rPr lang="en-US" dirty="0" err="1" smtClean="0">
                <a:latin typeface="Courier"/>
                <a:cs typeface="Courier"/>
              </a:rPr>
              <a:t>thrdID</a:t>
            </a:r>
            <a:r>
              <a:rPr lang="en-US" dirty="0" smtClean="0">
                <a:latin typeface="Courier"/>
                <a:cs typeface="Courier"/>
              </a:rPr>
              <a:t> = </a:t>
            </a:r>
            <a:r>
              <a:rPr lang="en-US" dirty="0" err="1" smtClean="0">
                <a:latin typeface="Courier"/>
                <a:cs typeface="Courier"/>
              </a:rPr>
              <a:t>omp_get_thread_num</a:t>
            </a:r>
            <a:r>
              <a:rPr lang="en-US" dirty="0" smtClean="0">
                <a:latin typeface="Courier"/>
                <a:cs typeface="Courier"/>
              </a:rPr>
              <a:t>()</a:t>
            </a:r>
          </a:p>
          <a:p>
            <a:r>
              <a:rPr lang="en-US" sz="1800" dirty="0" smtClean="0">
                <a:latin typeface="Courier"/>
                <a:cs typeface="Courier"/>
              </a:rPr>
              <a:t>	IF( </a:t>
            </a:r>
            <a:r>
              <a:rPr lang="en-US" sz="1800" dirty="0" err="1" smtClean="0">
                <a:latin typeface="Courier"/>
                <a:cs typeface="Courier"/>
              </a:rPr>
              <a:t>thrdID</a:t>
            </a:r>
            <a:r>
              <a:rPr lang="en-US" dirty="0" smtClean="0">
                <a:latin typeface="Courier"/>
                <a:cs typeface="Courier"/>
              </a:rPr>
              <a:t> /= </a:t>
            </a:r>
            <a:r>
              <a:rPr lang="en-US" dirty="0" err="1" smtClean="0">
                <a:latin typeface="Courier"/>
                <a:cs typeface="Courier"/>
              </a:rPr>
              <a:t>commThread</a:t>
            </a:r>
            <a:r>
              <a:rPr lang="en-US" dirty="0" smtClean="0">
                <a:latin typeface="Courier"/>
                <a:cs typeface="Courier"/>
              </a:rPr>
              <a:t> )THEN</a:t>
            </a:r>
          </a:p>
          <a:p>
            <a:r>
              <a:rPr lang="en-US" sz="1800" dirty="0" smtClean="0">
                <a:latin typeface="Courier"/>
                <a:cs typeface="Courier"/>
              </a:rPr>
              <a:t>	!$OMP DO</a:t>
            </a:r>
          </a:p>
          <a:p>
            <a:r>
              <a:rPr lang="en-US" dirty="0" smtClean="0">
                <a:latin typeface="Courier"/>
                <a:cs typeface="Courier"/>
              </a:rPr>
              <a:t>  	</a:t>
            </a:r>
            <a:r>
              <a:rPr lang="en-US" sz="1800" dirty="0" smtClean="0">
                <a:latin typeface="Courier"/>
                <a:cs typeface="Courier"/>
              </a:rPr>
              <a:t>DO I = 1, N</a:t>
            </a:r>
          </a:p>
          <a:p>
            <a:r>
              <a:rPr lang="en-US" sz="1800" dirty="0">
                <a:latin typeface="Courier"/>
                <a:cs typeface="Courier"/>
              </a:rPr>
              <a:t> </a:t>
            </a:r>
            <a:r>
              <a:rPr lang="en-US" sz="1800" dirty="0" smtClean="0">
                <a:latin typeface="Courier"/>
                <a:cs typeface="Courier"/>
              </a:rPr>
              <a:t> </a:t>
            </a:r>
            <a:r>
              <a:rPr lang="en-US" dirty="0" smtClean="0">
                <a:latin typeface="Courier"/>
                <a:cs typeface="Courier"/>
              </a:rPr>
              <a:t>		CALL Physics()</a:t>
            </a:r>
            <a:endParaRPr lang="en-US" sz="1800" dirty="0" smtClean="0">
              <a:latin typeface="Courier"/>
              <a:cs typeface="Courier"/>
            </a:endParaRPr>
          </a:p>
          <a:p>
            <a:r>
              <a:rPr lang="en-US" sz="1800" dirty="0" smtClean="0">
                <a:latin typeface="Courier"/>
                <a:cs typeface="Courier"/>
              </a:rPr>
              <a:t> 	 </a:t>
            </a:r>
            <a:r>
              <a:rPr lang="en-US" dirty="0" smtClean="0">
                <a:latin typeface="Courier"/>
                <a:cs typeface="Courier"/>
              </a:rPr>
              <a:t>END DO</a:t>
            </a:r>
          </a:p>
          <a:p>
            <a:r>
              <a:rPr lang="en-US" dirty="0" smtClean="0">
                <a:latin typeface="Courier"/>
                <a:cs typeface="Courier"/>
              </a:rPr>
              <a:t>	!OMP END DO</a:t>
            </a:r>
          </a:p>
          <a:p>
            <a:r>
              <a:rPr lang="en-US" sz="1800" dirty="0" smtClean="0">
                <a:latin typeface="Courier"/>
                <a:cs typeface="Courier"/>
              </a:rPr>
              <a:t>	ELSE</a:t>
            </a:r>
          </a:p>
          <a:p>
            <a:r>
              <a:rPr lang="en-US" dirty="0" smtClean="0">
                <a:latin typeface="Courier"/>
                <a:cs typeface="Courier"/>
              </a:rPr>
              <a:t>		CALL MPI_IRECV()</a:t>
            </a:r>
          </a:p>
          <a:p>
            <a:r>
              <a:rPr lang="en-US" sz="1800" dirty="0" smtClean="0">
                <a:latin typeface="Courier"/>
                <a:cs typeface="Courier"/>
              </a:rPr>
              <a:t>		CALL MPI_SEND()</a:t>
            </a:r>
          </a:p>
          <a:p>
            <a:r>
              <a:rPr lang="en-US" dirty="0" smtClean="0">
                <a:latin typeface="Courier"/>
                <a:cs typeface="Courier"/>
              </a:rPr>
              <a:t>	END IF</a:t>
            </a:r>
          </a:p>
          <a:p>
            <a:r>
              <a:rPr lang="en-US" dirty="0" smtClean="0">
                <a:latin typeface="Courier"/>
                <a:cs typeface="Courier"/>
              </a:rPr>
              <a:t>	!$OMP BARRIER</a:t>
            </a:r>
            <a:endParaRPr lang="en-US" sz="1800" dirty="0" smtClean="0">
              <a:latin typeface="Courier"/>
              <a:cs typeface="Courier"/>
            </a:endParaRPr>
          </a:p>
          <a:p>
            <a:r>
              <a:rPr lang="en-US" sz="1800" dirty="0" smtClean="0">
                <a:latin typeface="Courier"/>
                <a:cs typeface="Courier"/>
              </a:rPr>
              <a:t>!</a:t>
            </a:r>
            <a:r>
              <a:rPr lang="en-US" sz="1800" dirty="0">
                <a:latin typeface="Courier"/>
                <a:cs typeface="Courier"/>
              </a:rPr>
              <a:t>$OMP END PARALLEL DO </a:t>
            </a:r>
            <a:endParaRPr lang="en-US" sz="1800" dirty="0" smtClean="0">
              <a:latin typeface="Courier"/>
              <a:cs typeface="Courier"/>
            </a:endParaRPr>
          </a:p>
          <a:p>
            <a:pPr>
              <a:lnSpc>
                <a:spcPct val="80000"/>
              </a:lnSpc>
            </a:pPr>
            <a:endParaRPr lang="en-US" sz="1800" b="1" dirty="0">
              <a:latin typeface="Tahoma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(nested parallelism)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E2C8-2EBF-3F41-A550-1DC3EA0F6A9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981200" y="1905000"/>
            <a:ext cx="5638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 smtClean="0">
                <a:latin typeface="Courier"/>
                <a:cs typeface="Courier"/>
              </a:rPr>
              <a:t>!</a:t>
            </a:r>
            <a:r>
              <a:rPr lang="en-US" sz="1800" dirty="0">
                <a:latin typeface="Courier"/>
                <a:cs typeface="Courier"/>
              </a:rPr>
              <a:t>$OMP </a:t>
            </a:r>
            <a:r>
              <a:rPr lang="en-US" sz="1800" dirty="0" smtClean="0">
                <a:latin typeface="Courier"/>
                <a:cs typeface="Courier"/>
              </a:rPr>
              <a:t>PARALLEL</a:t>
            </a:r>
          </a:p>
          <a:p>
            <a:r>
              <a:rPr lang="en-US" dirty="0" smtClean="0">
                <a:latin typeface="Courier"/>
                <a:cs typeface="Courier"/>
              </a:rPr>
              <a:t>	</a:t>
            </a:r>
            <a:r>
              <a:rPr lang="en-US" dirty="0" err="1" smtClean="0">
                <a:latin typeface="Courier"/>
                <a:cs typeface="Courier"/>
              </a:rPr>
              <a:t>thrdID</a:t>
            </a:r>
            <a:r>
              <a:rPr lang="en-US" dirty="0" smtClean="0">
                <a:latin typeface="Courier"/>
                <a:cs typeface="Courier"/>
              </a:rPr>
              <a:t> = </a:t>
            </a:r>
            <a:r>
              <a:rPr lang="en-US" dirty="0" err="1" smtClean="0">
                <a:latin typeface="Courier"/>
                <a:cs typeface="Courier"/>
              </a:rPr>
              <a:t>omp_get_thread_num</a:t>
            </a:r>
            <a:r>
              <a:rPr lang="en-US" dirty="0" smtClean="0">
                <a:latin typeface="Courier"/>
                <a:cs typeface="Courier"/>
              </a:rPr>
              <a:t>()</a:t>
            </a:r>
          </a:p>
          <a:p>
            <a:r>
              <a:rPr lang="en-US" sz="1800" dirty="0" smtClean="0">
                <a:latin typeface="Courier"/>
                <a:cs typeface="Courier"/>
              </a:rPr>
              <a:t>	IF( </a:t>
            </a:r>
            <a:r>
              <a:rPr lang="en-US" sz="1800" dirty="0" err="1" smtClean="0">
                <a:latin typeface="Courier"/>
                <a:cs typeface="Courier"/>
              </a:rPr>
              <a:t>thrdID</a:t>
            </a:r>
            <a:r>
              <a:rPr lang="en-US" dirty="0" smtClean="0">
                <a:latin typeface="Courier"/>
                <a:cs typeface="Courier"/>
              </a:rPr>
              <a:t> &gt; n0)</a:t>
            </a:r>
            <a:r>
              <a:rPr lang="en-US" dirty="0" smtClean="0">
                <a:latin typeface="Courier"/>
                <a:cs typeface="Courier"/>
              </a:rPr>
              <a:t>THEN</a:t>
            </a:r>
          </a:p>
          <a:p>
            <a:r>
              <a:rPr lang="en-US" sz="1800" dirty="0" smtClean="0">
                <a:latin typeface="Courier"/>
                <a:cs typeface="Courier"/>
              </a:rPr>
              <a:t>	!$OMP</a:t>
            </a:r>
            <a:r>
              <a:rPr lang="en-US" sz="1800" dirty="0" smtClean="0">
                <a:latin typeface="Courier"/>
                <a:cs typeface="Courier"/>
              </a:rPr>
              <a:t> </a:t>
            </a:r>
            <a:r>
              <a:rPr lang="en-US" dirty="0" smtClean="0">
                <a:latin typeface="Courier"/>
                <a:cs typeface="Courier"/>
              </a:rPr>
              <a:t>PARALLEL </a:t>
            </a:r>
            <a:r>
              <a:rPr lang="en-US" dirty="0" err="1" smtClean="0">
                <a:latin typeface="Courier"/>
                <a:cs typeface="Courier"/>
              </a:rPr>
              <a:t>NUM_THREADS(n</a:t>
            </a:r>
            <a:r>
              <a:rPr lang="en-US" dirty="0" smtClean="0">
                <a:latin typeface="Courier"/>
                <a:cs typeface="Courier"/>
              </a:rPr>
              <a:t>)</a:t>
            </a:r>
            <a:endParaRPr lang="en-US" sz="1800" dirty="0" smtClean="0">
              <a:latin typeface="Courier"/>
              <a:cs typeface="Courier"/>
            </a:endParaRPr>
          </a:p>
          <a:p>
            <a:r>
              <a:rPr lang="en-US" dirty="0" smtClean="0">
                <a:latin typeface="Courier"/>
                <a:cs typeface="Courier"/>
              </a:rPr>
              <a:t>  </a:t>
            </a:r>
            <a:r>
              <a:rPr lang="en-US" dirty="0" smtClean="0">
                <a:latin typeface="Courier"/>
                <a:cs typeface="Courier"/>
              </a:rPr>
              <a:t>		! Do some work</a:t>
            </a:r>
          </a:p>
          <a:p>
            <a:r>
              <a:rPr lang="en-US" dirty="0" smtClean="0">
                <a:latin typeface="Courier"/>
                <a:cs typeface="Courier"/>
              </a:rPr>
              <a:t>	</a:t>
            </a:r>
            <a:r>
              <a:rPr lang="en-US" dirty="0" smtClean="0">
                <a:latin typeface="Courier"/>
                <a:cs typeface="Courier"/>
              </a:rPr>
              <a:t>!OMP END</a:t>
            </a:r>
            <a:r>
              <a:rPr lang="en-US" dirty="0" smtClean="0">
                <a:latin typeface="Courier"/>
                <a:cs typeface="Courier"/>
              </a:rPr>
              <a:t> PARALLEL</a:t>
            </a:r>
          </a:p>
          <a:p>
            <a:r>
              <a:rPr lang="en-US" sz="1800" dirty="0" smtClean="0">
                <a:latin typeface="Courier"/>
                <a:cs typeface="Courier"/>
              </a:rPr>
              <a:t>	ELSE</a:t>
            </a:r>
          </a:p>
          <a:p>
            <a:r>
              <a:rPr lang="en-US" dirty="0" smtClean="0">
                <a:latin typeface="Courier"/>
                <a:cs typeface="Courier"/>
              </a:rPr>
              <a:t>		!do some other work	</a:t>
            </a:r>
          </a:p>
          <a:p>
            <a:r>
              <a:rPr lang="en-US" dirty="0" smtClean="0">
                <a:latin typeface="Courier"/>
                <a:cs typeface="Courier"/>
              </a:rPr>
              <a:t>	</a:t>
            </a:r>
            <a:r>
              <a:rPr lang="en-US" dirty="0" smtClean="0">
                <a:latin typeface="Courier"/>
                <a:cs typeface="Courier"/>
              </a:rPr>
              <a:t>END IF</a:t>
            </a:r>
            <a:endParaRPr lang="en-US" dirty="0" smtClean="0">
              <a:latin typeface="Courier"/>
              <a:cs typeface="Courier"/>
            </a:endParaRPr>
          </a:p>
          <a:p>
            <a:r>
              <a:rPr lang="en-US" sz="1800" dirty="0" smtClean="0">
                <a:latin typeface="Courier"/>
                <a:cs typeface="Courier"/>
              </a:rPr>
              <a:t>!</a:t>
            </a:r>
            <a:r>
              <a:rPr lang="en-US" sz="1800" dirty="0">
                <a:latin typeface="Courier"/>
                <a:cs typeface="Courier"/>
              </a:rPr>
              <a:t>$OMP END </a:t>
            </a:r>
            <a:r>
              <a:rPr lang="en-US" sz="1800" dirty="0" smtClean="0">
                <a:latin typeface="Courier"/>
                <a:cs typeface="Courier"/>
              </a:rPr>
              <a:t>PARALLEL</a:t>
            </a:r>
          </a:p>
          <a:p>
            <a:pPr>
              <a:lnSpc>
                <a:spcPct val="80000"/>
              </a:lnSpc>
            </a:pPr>
            <a:endParaRPr lang="en-US" sz="1800" b="1" dirty="0">
              <a:latin typeface="Tahoma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Initializing threaded MPI calls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order to use MPI calls in threaded regions, you must use a special version of the </a:t>
            </a:r>
            <a:r>
              <a:rPr lang="en-US" dirty="0" err="1" smtClean="0">
                <a:latin typeface="Courier"/>
                <a:cs typeface="Courier"/>
              </a:rPr>
              <a:t>MPI_Init</a:t>
            </a:r>
            <a:r>
              <a:rPr lang="en-US" dirty="0" smtClean="0">
                <a:latin typeface="Courier"/>
                <a:cs typeface="Courier"/>
              </a:rPr>
              <a:t>() </a:t>
            </a:r>
            <a:r>
              <a:rPr lang="en-US" dirty="0" smtClean="0"/>
              <a:t>routine</a:t>
            </a:r>
          </a:p>
          <a:p>
            <a:pPr lvl="1"/>
            <a:r>
              <a:rPr lang="en-US" dirty="0" err="1" smtClean="0">
                <a:latin typeface="Courier"/>
                <a:cs typeface="Courier"/>
              </a:rPr>
              <a:t>MPI_Init_Thread</a:t>
            </a:r>
            <a:r>
              <a:rPr lang="en-US" dirty="0" smtClean="0">
                <a:latin typeface="Courier"/>
                <a:cs typeface="Courier"/>
              </a:rPr>
              <a:t>( </a:t>
            </a:r>
            <a:r>
              <a:rPr lang="en-US" dirty="0" err="1" smtClean="0">
                <a:latin typeface="Courier"/>
                <a:cs typeface="Courier"/>
              </a:rPr>
              <a:t>int</a:t>
            </a:r>
            <a:r>
              <a:rPr lang="en-US" dirty="0" smtClean="0">
                <a:latin typeface="Courier"/>
                <a:cs typeface="Courier"/>
              </a:rPr>
              <a:t> *</a:t>
            </a:r>
            <a:r>
              <a:rPr lang="en-US" dirty="0" err="1" smtClean="0">
                <a:latin typeface="Courier"/>
                <a:cs typeface="Courier"/>
              </a:rPr>
              <a:t>argc</a:t>
            </a:r>
            <a:r>
              <a:rPr lang="en-US" dirty="0" smtClean="0">
                <a:latin typeface="Courier"/>
                <a:cs typeface="Courier"/>
              </a:rPr>
              <a:t>, char ** </a:t>
            </a:r>
            <a:r>
              <a:rPr lang="en-US" dirty="0" err="1" smtClean="0">
                <a:latin typeface="Courier"/>
                <a:cs typeface="Courier"/>
              </a:rPr>
              <a:t>argv</a:t>
            </a:r>
            <a:r>
              <a:rPr lang="en-US" dirty="0" smtClean="0">
                <a:latin typeface="Courier"/>
                <a:cs typeface="Courier"/>
              </a:rPr>
              <a:t>, </a:t>
            </a:r>
            <a:r>
              <a:rPr lang="en-US" dirty="0" err="1" smtClean="0">
                <a:latin typeface="Courier"/>
                <a:cs typeface="Courier"/>
              </a:rPr>
              <a:t>int</a:t>
            </a:r>
            <a:r>
              <a:rPr lang="en-US" dirty="0" smtClean="0">
                <a:latin typeface="Courier"/>
                <a:cs typeface="Courier"/>
              </a:rPr>
              <a:t> required, </a:t>
            </a:r>
            <a:r>
              <a:rPr lang="en-US" dirty="0" err="1" smtClean="0">
                <a:latin typeface="Courier"/>
                <a:cs typeface="Courier"/>
              </a:rPr>
              <a:t>int</a:t>
            </a:r>
            <a:r>
              <a:rPr lang="en-US" dirty="0" smtClean="0">
                <a:latin typeface="Courier"/>
                <a:cs typeface="Courier"/>
              </a:rPr>
              <a:t> * provided )</a:t>
            </a:r>
          </a:p>
          <a:p>
            <a:r>
              <a:rPr lang="en-US" dirty="0" smtClean="0">
                <a:latin typeface="Courier"/>
                <a:cs typeface="Courier"/>
              </a:rPr>
              <a:t>required </a:t>
            </a:r>
            <a:r>
              <a:rPr lang="en-US" dirty="0" smtClean="0">
                <a:cs typeface="Courier"/>
              </a:rPr>
              <a:t>= level of thread support desired.</a:t>
            </a:r>
          </a:p>
          <a:p>
            <a:r>
              <a:rPr lang="en-US" dirty="0" smtClean="0">
                <a:latin typeface="Courier"/>
                <a:cs typeface="Courier"/>
              </a:rPr>
              <a:t>provided </a:t>
            </a:r>
            <a:r>
              <a:rPr lang="en-US" dirty="0" smtClean="0">
                <a:cs typeface="Courier"/>
              </a:rPr>
              <a:t>= level of thread support provided.</a:t>
            </a:r>
            <a:endParaRPr lang="en-US" dirty="0" smtClean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MPI thread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91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ourier"/>
                <a:cs typeface="Courier"/>
              </a:rPr>
              <a:t>MPI_THREAD_SINGLE</a:t>
            </a:r>
          </a:p>
          <a:p>
            <a:pPr lvl="1"/>
            <a:r>
              <a:rPr lang="en-US" dirty="0" smtClean="0"/>
              <a:t>Only one thread will execute an MPI call.</a:t>
            </a:r>
          </a:p>
          <a:p>
            <a:r>
              <a:rPr lang="en-US" dirty="0" smtClean="0">
                <a:latin typeface="Courier"/>
                <a:cs typeface="Courier"/>
              </a:rPr>
              <a:t>MPI_THREAD_FUNNELLED</a:t>
            </a:r>
          </a:p>
          <a:p>
            <a:pPr lvl="1"/>
            <a:r>
              <a:rPr lang="en-US" dirty="0" smtClean="0"/>
              <a:t>Only the master thread will execute an MPI call.</a:t>
            </a:r>
          </a:p>
          <a:p>
            <a:r>
              <a:rPr lang="en-US" dirty="0" smtClean="0">
                <a:latin typeface="Courier"/>
                <a:cs typeface="Courier"/>
              </a:rPr>
              <a:t>MPI_THREAD_SERIALIZED</a:t>
            </a:r>
          </a:p>
          <a:p>
            <a:pPr lvl="1"/>
            <a:r>
              <a:rPr lang="en-US" dirty="0" smtClean="0"/>
              <a:t>Multiple threads may make MPI calls, but only one at a time.</a:t>
            </a:r>
          </a:p>
          <a:p>
            <a:r>
              <a:rPr lang="en-US" dirty="0" smtClean="0">
                <a:latin typeface="Courier"/>
                <a:cs typeface="Courier"/>
              </a:rPr>
              <a:t>MPI_THREAD_MULTIPLE</a:t>
            </a:r>
          </a:p>
          <a:p>
            <a:pPr lvl="1"/>
            <a:r>
              <a:rPr lang="en-US" dirty="0" smtClean="0"/>
              <a:t>Multiple threads may make MPI calls.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Things to consider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91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If the loops/sections that you want to parallelize don’t scale, hybrid programming isn’t going to help you</a:t>
            </a:r>
          </a:p>
          <a:p>
            <a:pPr lvl="1"/>
            <a:r>
              <a:rPr lang="en-US" dirty="0" smtClean="0"/>
              <a:t>See content on OpenMP optimization</a:t>
            </a:r>
          </a:p>
          <a:p>
            <a:r>
              <a:rPr lang="en-US" dirty="0" smtClean="0"/>
              <a:t>If your loops are memory-bandwidth bound then it’s likely that this type of method won’t help you. </a:t>
            </a:r>
          </a:p>
          <a:p>
            <a:pPr lvl="1"/>
            <a:r>
              <a:rPr lang="en-US" dirty="0" smtClean="0"/>
              <a:t>Can be a problem with codes ported from vector machines that use a lot of arrays to store values instead of computing what  you need from what you have.</a:t>
            </a:r>
          </a:p>
          <a:p>
            <a:pPr lvl="1"/>
            <a:r>
              <a:rPr lang="en-US" dirty="0" smtClean="0"/>
              <a:t>Just like MPI, you want to limit the amount of communication that you have to 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things to consider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Thread creation and synchronization has a lot of overhead:</a:t>
            </a:r>
          </a:p>
          <a:p>
            <a:pPr lvl="1"/>
            <a:r>
              <a:rPr lang="en-US" dirty="0" smtClean="0"/>
              <a:t>Instead of parallelizing many loops in a subroutine, consider changing code and data structures so that you are parallelizing a a single loop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E2C8-2EBF-3F41-A550-1DC3EA0F6A9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you have plans to hybridize your code?</a:t>
            </a:r>
          </a:p>
          <a:p>
            <a:r>
              <a:rPr lang="en-US" dirty="0" smtClean="0"/>
              <a:t>What are you trying to do?</a:t>
            </a:r>
          </a:p>
          <a:p>
            <a:r>
              <a:rPr lang="en-US" dirty="0" smtClean="0"/>
              <a:t>Did you try it and it didn’t do much </a:t>
            </a:r>
            <a:r>
              <a:rPr lang="en-US" smtClean="0"/>
              <a:t>for you</a:t>
            </a:r>
          </a:p>
          <a:p>
            <a:pPr lvl="1"/>
            <a:r>
              <a:rPr lang="en-US" smtClean="0"/>
              <a:t>Why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Name / Place / Date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E2C8-2EBF-3F41-A550-1DC3EA0F6A9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SCS_Presentation">
  <a:themeElements>
    <a:clrScheme name="CSCS_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SCS_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 Neue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 Neue Light" charset="0"/>
          </a:defRPr>
        </a:defPPr>
      </a:lstStyle>
    </a:lnDef>
  </a:objectDefaults>
  <a:extraClrSchemeLst>
    <a:extraClrScheme>
      <a:clrScheme name="CSCS_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CS_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CS_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CS_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CS_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CS_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cscs.pot</Template>
  <TotalTime>3879</TotalTime>
  <Words>1016</Words>
  <Application>Microsoft Macintosh PowerPoint</Application>
  <PresentationFormat>On-screen Show (4:3)</PresentationFormat>
  <Paragraphs>162</Paragraphs>
  <Slides>17</Slides>
  <Notes>2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CSCS_Presentation</vt:lpstr>
      <vt:lpstr>Hybrid MPI/OpenMP Parallel Programming</vt:lpstr>
      <vt:lpstr>Agenda</vt:lpstr>
      <vt:lpstr>What is hybrid programming?</vt:lpstr>
      <vt:lpstr>Why might you use it?</vt:lpstr>
      <vt:lpstr>Hybrid programming: Best of both worlds?</vt:lpstr>
      <vt:lpstr>Common Example of a Hybrid  Code</vt:lpstr>
      <vt:lpstr>A Hybrid Parallelization Strategy</vt:lpstr>
      <vt:lpstr>Using MPI in threaded regions</vt:lpstr>
      <vt:lpstr>Example (master calls MPI)</vt:lpstr>
      <vt:lpstr>Example (single calls MPI)</vt:lpstr>
      <vt:lpstr>Example  (DIY)</vt:lpstr>
      <vt:lpstr>Example (nested parallelism)</vt:lpstr>
      <vt:lpstr>Initializing threaded MPI calls</vt:lpstr>
      <vt:lpstr>Types of MPI thread support</vt:lpstr>
      <vt:lpstr>Things to consider </vt:lpstr>
      <vt:lpstr>More things to consider</vt:lpstr>
      <vt:lpstr>Questions?</vt:lpstr>
    </vt:vector>
  </TitlesOfParts>
  <Manager/>
  <Company>CSCS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MPI/OpenMP Parallel Programming</dc:title>
  <dc:subject/>
  <dc:creator>Matthew Cordery</dc:creator>
  <cp:keywords/>
  <dc:description/>
  <cp:lastModifiedBy>Matthew Cordery</cp:lastModifiedBy>
  <cp:revision>37</cp:revision>
  <cp:lastPrinted>2006-10-31T10:32:20Z</cp:lastPrinted>
  <dcterms:created xsi:type="dcterms:W3CDTF">2011-07-25T05:42:37Z</dcterms:created>
  <dcterms:modified xsi:type="dcterms:W3CDTF">2011-07-25T09:26:22Z</dcterms:modified>
  <cp:category/>
</cp:coreProperties>
</file>